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67275" cy="427942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8" y="-18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22430" y="419007"/>
            <a:ext cx="29425702" cy="4672163"/>
          </a:xfrm>
          <a:prstGeom prst="roundRect">
            <a:avLst>
              <a:gd name="adj" fmla="val 859"/>
            </a:avLst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20927" y="10886343"/>
            <a:ext cx="29424707" cy="7389130"/>
          </a:xfrm>
          <a:prstGeom prst="roundRect">
            <a:avLst>
              <a:gd name="adj" fmla="val 773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Top stripe method"/>
          <p:cNvSpPr/>
          <p:nvPr/>
        </p:nvSpPr>
        <p:spPr>
          <a:xfrm>
            <a:off x="431955" y="10896409"/>
            <a:ext cx="29406652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20927" y="37723808"/>
            <a:ext cx="29424707" cy="4651123"/>
          </a:xfrm>
          <a:prstGeom prst="roundRect">
            <a:avLst>
              <a:gd name="adj" fmla="val 1228"/>
            </a:avLst>
          </a:prstGeom>
          <a:solidFill>
            <a:srgbClr val="E9F2F3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20927" y="37723808"/>
            <a:ext cx="57161" cy="4651123"/>
          </a:xfrm>
          <a:prstGeom prst="rect">
            <a:avLst/>
          </a:prstGeom>
          <a:solidFill>
            <a:srgbClr val="0F607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Rectangle right bar"/>
          <p:cNvSpPr/>
          <p:nvPr/>
        </p:nvSpPr>
        <p:spPr>
          <a:xfrm>
            <a:off x="29790981" y="37725488"/>
            <a:ext cx="57150" cy="4651330"/>
          </a:xfrm>
          <a:prstGeom prst="rect">
            <a:avLst/>
          </a:prstGeom>
          <a:solidFill>
            <a:srgbClr val="0F607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Bottom stripe takeaway"/>
          <p:cNvSpPr/>
          <p:nvPr/>
        </p:nvSpPr>
        <p:spPr>
          <a:xfrm>
            <a:off x="479580" y="42329193"/>
            <a:ext cx="29311402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Top stripe takeaway"/>
          <p:cNvSpPr/>
          <p:nvPr/>
        </p:nvSpPr>
        <p:spPr>
          <a:xfrm>
            <a:off x="479580" y="37735013"/>
            <a:ext cx="29311402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0927" y="5319394"/>
            <a:ext cx="14559993" cy="5338410"/>
          </a:xfrm>
          <a:prstGeom prst="roundRect">
            <a:avLst>
              <a:gd name="adj" fmla="val 1232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Top stripe problem"/>
          <p:cNvSpPr/>
          <p:nvPr/>
        </p:nvSpPr>
        <p:spPr>
          <a:xfrm>
            <a:off x="431955" y="5329244"/>
            <a:ext cx="14541435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5285642" y="5319394"/>
            <a:ext cx="14559993" cy="5338410"/>
          </a:xfrm>
          <a:prstGeom prst="roundRect">
            <a:avLst>
              <a:gd name="adj" fmla="val 1232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Top stripe motivation"/>
          <p:cNvSpPr/>
          <p:nvPr/>
        </p:nvSpPr>
        <p:spPr>
          <a:xfrm>
            <a:off x="15297171" y="5329244"/>
            <a:ext cx="14541436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09729" y="11022782"/>
            <a:ext cx="2011640" cy="7116251"/>
          </a:xfrm>
          <a:prstGeom prst="roundRect">
            <a:avLst>
              <a:gd name="adj" fmla="val 3788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20927" y="18504010"/>
            <a:ext cx="12349271" cy="10724858"/>
          </a:xfrm>
          <a:prstGeom prst="roundRect">
            <a:avLst>
              <a:gd name="adj" fmla="val 579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Top stripe key-result"/>
          <p:cNvSpPr/>
          <p:nvPr/>
        </p:nvSpPr>
        <p:spPr>
          <a:xfrm>
            <a:off x="431955" y="18514416"/>
            <a:ext cx="12330638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3074920" y="18504010"/>
            <a:ext cx="8232998" cy="10724858"/>
          </a:xfrm>
          <a:prstGeom prst="roundRect">
            <a:avLst>
              <a:gd name="adj" fmla="val 694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Top stripe ablation-study"/>
          <p:cNvSpPr/>
          <p:nvPr/>
        </p:nvSpPr>
        <p:spPr>
          <a:xfrm>
            <a:off x="13086376" y="18514416"/>
            <a:ext cx="8214224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1612638" y="18504010"/>
            <a:ext cx="8232997" cy="10724858"/>
          </a:xfrm>
          <a:prstGeom prst="roundRect">
            <a:avLst>
              <a:gd name="adj" fmla="val 694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Top stripe headline-numbers"/>
          <p:cNvSpPr/>
          <p:nvPr/>
        </p:nvSpPr>
        <p:spPr>
          <a:xfrm>
            <a:off x="21624382" y="18514416"/>
            <a:ext cx="8214224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0927" y="29457405"/>
            <a:ext cx="14559993" cy="8037864"/>
          </a:xfrm>
          <a:prstGeom prst="roundRect">
            <a:avLst>
              <a:gd name="adj" fmla="val 750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Top stripe what-the-policy-does"/>
          <p:cNvSpPr/>
          <p:nvPr/>
        </p:nvSpPr>
        <p:spPr>
          <a:xfrm>
            <a:off x="431955" y="29468259"/>
            <a:ext cx="14541435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5285642" y="29457405"/>
            <a:ext cx="14559993" cy="8037864"/>
          </a:xfrm>
          <a:prstGeom prst="roundRect">
            <a:avLst>
              <a:gd name="adj" fmla="val 750"/>
            </a:avLst>
          </a:prstGeom>
          <a:solidFill>
            <a:srgbClr val="FAFAF7"/>
          </a:solidFill>
          <a:ln w="9526">
            <a:solidFill>
              <a:srgbClr val="B4C2C2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op stripe risk-information-vs-adaptivity"/>
          <p:cNvSpPr/>
          <p:nvPr/>
        </p:nvSpPr>
        <p:spPr>
          <a:xfrm>
            <a:off x="15297171" y="29468259"/>
            <a:ext cx="14541436" cy="38100"/>
          </a:xfrm>
          <a:prstGeom prst="rect">
            <a:avLst/>
          </a:prstGeom>
          <a:gradFill rotWithShape="1">
            <a:gsLst>
              <a:gs pos="0">
                <a:srgbClr val="0F6070"/>
              </a:gs>
              <a:gs pos="100000">
                <a:srgbClr val="57909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57341" y="38012606"/>
            <a:ext cx="28751882" cy="10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57341" y="39041024"/>
            <a:ext cx="28751882" cy="19054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57341" y="39402885"/>
            <a:ext cx="28751882" cy="1137040"/>
          </a:xfrm>
          <a:prstGeom prst="roundRect">
            <a:avLst>
              <a:gd name="adj" fmla="val 12511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university-of-uls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9402" y="2979657"/>
            <a:ext cx="2289134" cy="190444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09729" y="5608192"/>
            <a:ext cx="13982390" cy="104747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9729" y="6636609"/>
            <a:ext cx="13982390" cy="19052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5574443" y="5608192"/>
            <a:ext cx="13982392" cy="104747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5574443" y="6636609"/>
            <a:ext cx="13982392" cy="19053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09729" y="6998471"/>
            <a:ext cx="13982390" cy="11513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09729" y="6998471"/>
            <a:ext cx="85741" cy="1151324"/>
          </a:xfrm>
          <a:prstGeom prst="rect">
            <a:avLst/>
          </a:prstGeom>
          <a:solidFill>
            <a:srgbClr val="0F607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9729" y="18792809"/>
            <a:ext cx="11771669" cy="10474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9729" y="19821224"/>
            <a:ext cx="11771669" cy="19054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3363722" y="18792809"/>
            <a:ext cx="7655394" cy="10474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3363722" y="19821224"/>
            <a:ext cx="7655394" cy="19054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901440" y="18792809"/>
            <a:ext cx="7655395" cy="10474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901440" y="19821225"/>
            <a:ext cx="7655395" cy="19053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1901440" y="20183087"/>
            <a:ext cx="7655395" cy="7835494"/>
          </a:xfrm>
          <a:prstGeom prst="roundRect">
            <a:avLst>
              <a:gd name="adj" fmla="val 995"/>
            </a:avLst>
          </a:prstGeom>
          <a:gradFill flip="none" rotWithShape="1">
            <a:gsLst>
              <a:gs pos="0">
                <a:srgbClr val="E2ECEE"/>
              </a:gs>
              <a:gs pos="100000">
                <a:srgbClr val="F1F5F6"/>
              </a:gs>
            </a:gsLst>
            <a:lin ang="5400000" scaled="0"/>
          </a:gradFill>
          <a:ln w="9526">
            <a:solidFill>
              <a:srgbClr val="C3D7DB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9729" y="29746202"/>
            <a:ext cx="13982390" cy="10474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09729" y="30774618"/>
            <a:ext cx="13982390" cy="19053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5574443" y="29746202"/>
            <a:ext cx="13982392" cy="10474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15574443" y="30774618"/>
            <a:ext cx="13982392" cy="19053"/>
          </a:xfrm>
          <a:prstGeom prst="rect">
            <a:avLst/>
          </a:prstGeom>
          <a:solidFill>
            <a:srgbClr val="B7CFD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9729" y="35656522"/>
            <a:ext cx="13982390" cy="10723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9729" y="35656522"/>
            <a:ext cx="13982390" cy="12384"/>
          </a:xfrm>
          <a:prstGeom prst="rect">
            <a:avLst/>
          </a:prstGeom>
          <a:solidFill>
            <a:srgbClr val="ABC8C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4291601" y="2979548"/>
            <a:ext cx="1421988" cy="1421970"/>
          </a:xfrm>
          <a:prstGeom prst="roundRect">
            <a:avLst>
              <a:gd name="adj" fmla="val 8039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5923" y="3093868"/>
            <a:ext cx="1193344" cy="119333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3076828" y="11022782"/>
            <a:ext cx="16107855" cy="6711398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momdp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6991" y="11022782"/>
            <a:ext cx="16107530" cy="6711398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13363722" y="20360741"/>
            <a:ext cx="7655394" cy="3062065"/>
          </a:xfrm>
          <a:prstGeom prst="roundRect">
            <a:avLst>
              <a:gd name="adj" fmla="val 1244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dp_adherence_c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63796" y="20360741"/>
            <a:ext cx="7655246" cy="306206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09722" y="22826611"/>
            <a:ext cx="11771681" cy="4922523"/>
          </a:xfrm>
          <a:prstGeom prst="roundRect">
            <a:avLst>
              <a:gd name="adj" fmla="val 801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dp_frontier_c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858" y="22826611"/>
            <a:ext cx="11771409" cy="4922523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22164799" y="23272530"/>
            <a:ext cx="7128677" cy="4558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2164799" y="23272530"/>
            <a:ext cx="7128677" cy="12383"/>
          </a:xfrm>
          <a:prstGeom prst="rect">
            <a:avLst/>
          </a:prstGeom>
          <a:solidFill>
            <a:srgbClr val="C3D7D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09729" y="21476059"/>
            <a:ext cx="11771669" cy="389379"/>
          </a:xfrm>
          <a:prstGeom prst="rect">
            <a:avLst/>
          </a:prstGeom>
          <a:solidFill>
            <a:srgbClr val="E7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5574443" y="33852911"/>
            <a:ext cx="13982392" cy="546649"/>
          </a:xfrm>
          <a:prstGeom prst="rect">
            <a:avLst/>
          </a:prstGeom>
          <a:solidFill>
            <a:srgbClr val="E7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9489406" y="11022782"/>
            <a:ext cx="480062" cy="480055"/>
          </a:xfrm>
          <a:prstGeom prst="roundRect">
            <a:avLst>
              <a:gd name="adj" fmla="val 49612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52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489406" y="13367390"/>
            <a:ext cx="480062" cy="480056"/>
          </a:xfrm>
          <a:prstGeom prst="roundRect">
            <a:avLst>
              <a:gd name="adj" fmla="val 49612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52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9489406" y="15214449"/>
            <a:ext cx="480062" cy="480056"/>
          </a:xfrm>
          <a:prstGeom prst="roundRect">
            <a:avLst>
              <a:gd name="adj" fmla="val 49612"/>
            </a:avLst>
          </a:prstGeom>
          <a:solidFill>
            <a:srgbClr val="0F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52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9729" y="20183087"/>
            <a:ext cx="3672286" cy="514212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9729" y="20687772"/>
            <a:ext cx="3672286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382014" y="20183087"/>
            <a:ext cx="2373349" cy="514212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382014" y="20687772"/>
            <a:ext cx="2373349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755363" y="20183087"/>
            <a:ext cx="1700075" cy="514212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755363" y="20687772"/>
            <a:ext cx="1700075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455438" y="20183087"/>
            <a:ext cx="4025960" cy="514212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455438" y="20687772"/>
            <a:ext cx="4025960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9729" y="20697299"/>
            <a:ext cx="3672286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9729" y="21077155"/>
            <a:ext cx="3672286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4382014" y="20697299"/>
            <a:ext cx="2373349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382014" y="21077155"/>
            <a:ext cx="2373349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755363" y="20697299"/>
            <a:ext cx="1700075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755363" y="21077155"/>
            <a:ext cx="1700075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455438" y="20697299"/>
            <a:ext cx="4025960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455438" y="21077155"/>
            <a:ext cx="4025960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09729" y="21086681"/>
            <a:ext cx="3672286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09729" y="21466533"/>
            <a:ext cx="3672286" cy="12382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382014" y="21086681"/>
            <a:ext cx="2373349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4382014" y="21466533"/>
            <a:ext cx="2373349" cy="12382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6755363" y="21086681"/>
            <a:ext cx="1700075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55363" y="21466533"/>
            <a:ext cx="1700075" cy="12382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455438" y="21086681"/>
            <a:ext cx="4025960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8455438" y="21466533"/>
            <a:ext cx="4025960" cy="12382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09729" y="21476059"/>
            <a:ext cx="3672286" cy="389379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709729" y="21855911"/>
            <a:ext cx="3672286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382014" y="21476059"/>
            <a:ext cx="2373349" cy="389379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4382014" y="21855911"/>
            <a:ext cx="2373349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755363" y="21476059"/>
            <a:ext cx="1700075" cy="389379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6755363" y="21855911"/>
            <a:ext cx="1700075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455438" y="21476059"/>
            <a:ext cx="4025960" cy="389379"/>
          </a:xfrm>
          <a:prstGeom prst="rect">
            <a:avLst/>
          </a:prstGeom>
          <a:solidFill>
            <a:srgbClr val="E2E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8455438" y="21855911"/>
            <a:ext cx="4025960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09729" y="21865438"/>
            <a:ext cx="3672286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09729" y="22245289"/>
            <a:ext cx="3672286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4382014" y="21865438"/>
            <a:ext cx="2373349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4382014" y="22245289"/>
            <a:ext cx="2373349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755363" y="21865438"/>
            <a:ext cx="1700075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755363" y="22245289"/>
            <a:ext cx="1700075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8455438" y="21865438"/>
            <a:ext cx="4025960" cy="3893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8455438" y="22245289"/>
            <a:ext cx="4025960" cy="12387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09729" y="22254816"/>
            <a:ext cx="3672286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09729" y="22634670"/>
            <a:ext cx="3672286" cy="12386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4382014" y="22254816"/>
            <a:ext cx="2373349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4382014" y="22634670"/>
            <a:ext cx="2373349" cy="12386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755363" y="22254816"/>
            <a:ext cx="1700075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755363" y="22634670"/>
            <a:ext cx="1700075" cy="12386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8455438" y="22254816"/>
            <a:ext cx="4025960" cy="3893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8455438" y="22634670"/>
            <a:ext cx="4025960" cy="12386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709729" y="31136481"/>
            <a:ext cx="5872592" cy="708232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709729" y="31835186"/>
            <a:ext cx="5872592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582321" y="31136481"/>
            <a:ext cx="4054825" cy="708232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582321" y="31835186"/>
            <a:ext cx="40548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10637146" y="31136481"/>
            <a:ext cx="4054973" cy="708232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10637146" y="31835186"/>
            <a:ext cx="405497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09729" y="31844713"/>
            <a:ext cx="5872592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709729" y="32354905"/>
            <a:ext cx="5872592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582321" y="31844713"/>
            <a:ext cx="4054825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582321" y="32354905"/>
            <a:ext cx="40548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0637146" y="31844713"/>
            <a:ext cx="4054973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10637146" y="32354905"/>
            <a:ext cx="405497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709729" y="32364432"/>
            <a:ext cx="5872592" cy="5197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709729" y="32874622"/>
            <a:ext cx="5872592" cy="12384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582321" y="32364432"/>
            <a:ext cx="4054825" cy="5197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582321" y="32874622"/>
            <a:ext cx="4054825" cy="12384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10637146" y="32364432"/>
            <a:ext cx="4054973" cy="51971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10637146" y="32874622"/>
            <a:ext cx="4054973" cy="12384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709729" y="32884148"/>
            <a:ext cx="5872592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709729" y="33394341"/>
            <a:ext cx="5872592" cy="12384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6582321" y="32884148"/>
            <a:ext cx="4054825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6582321" y="33394341"/>
            <a:ext cx="4054825" cy="12384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10637146" y="32884148"/>
            <a:ext cx="4054973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10637146" y="33394341"/>
            <a:ext cx="4054973" cy="12384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15574443" y="32898431"/>
            <a:ext cx="6030757" cy="407830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15574443" y="33296734"/>
            <a:ext cx="6030757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21605200" y="32898431"/>
            <a:ext cx="2096747" cy="407830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21605200" y="33296734"/>
            <a:ext cx="2096747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23701947" y="32898431"/>
            <a:ext cx="3328730" cy="407830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23701947" y="33296734"/>
            <a:ext cx="3328730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7030677" y="32898431"/>
            <a:ext cx="2526158" cy="407830"/>
          </a:xfrm>
          <a:prstGeom prst="rect">
            <a:avLst/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27030677" y="33296734"/>
            <a:ext cx="2526158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15574443" y="33306261"/>
            <a:ext cx="6030757" cy="546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5574443" y="33843384"/>
            <a:ext cx="6030757" cy="12387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21605200" y="33306261"/>
            <a:ext cx="2096747" cy="546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21605200" y="33843384"/>
            <a:ext cx="2096747" cy="12387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23701947" y="33306261"/>
            <a:ext cx="3328730" cy="546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23701947" y="33843384"/>
            <a:ext cx="3328730" cy="12387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27030677" y="33306261"/>
            <a:ext cx="2526158" cy="546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27030677" y="33843384"/>
            <a:ext cx="2526158" cy="12387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709729" y="33403867"/>
            <a:ext cx="5872592" cy="5197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709729" y="33914057"/>
            <a:ext cx="5872592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6582321" y="33403867"/>
            <a:ext cx="4054825" cy="5197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6582321" y="33914057"/>
            <a:ext cx="40548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10637146" y="33403867"/>
            <a:ext cx="4054973" cy="5197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10637146" y="33914057"/>
            <a:ext cx="405497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15574443" y="33852911"/>
            <a:ext cx="6030757" cy="54664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15574443" y="34390034"/>
            <a:ext cx="6030757" cy="12382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1605200" y="33852911"/>
            <a:ext cx="2096747" cy="54664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1605200" y="34390034"/>
            <a:ext cx="2096747" cy="12382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23701947" y="33852911"/>
            <a:ext cx="3328730" cy="54664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3701947" y="34390034"/>
            <a:ext cx="3328730" cy="12382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27030677" y="33852911"/>
            <a:ext cx="2526158" cy="54664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7030677" y="34390034"/>
            <a:ext cx="2526158" cy="12382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709729" y="33923584"/>
            <a:ext cx="5872592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709729" y="34433776"/>
            <a:ext cx="5872592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6582321" y="33923584"/>
            <a:ext cx="4054825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6582321" y="34433776"/>
            <a:ext cx="4054825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10637146" y="33923584"/>
            <a:ext cx="4054973" cy="5197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10637146" y="34433776"/>
            <a:ext cx="4054973" cy="12385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15574443" y="34399560"/>
            <a:ext cx="6030757" cy="54664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15574443" y="34936681"/>
            <a:ext cx="6030757" cy="12383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21605200" y="34399560"/>
            <a:ext cx="2096747" cy="54664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21605200" y="34936681"/>
            <a:ext cx="2096747" cy="12383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23701947" y="34399560"/>
            <a:ext cx="3328730" cy="54664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23701947" y="34936681"/>
            <a:ext cx="3328730" cy="12383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27030677" y="34399560"/>
            <a:ext cx="2526158" cy="54664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27030677" y="34936681"/>
            <a:ext cx="2526158" cy="12383"/>
          </a:xfrm>
          <a:prstGeom prst="rect">
            <a:avLst/>
          </a:prstGeom>
          <a:solidFill>
            <a:srgbClr val="DBE7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1131846" y="596641"/>
            <a:ext cx="28460157" cy="255068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5825"/>
              </a:lnSpc>
              <a:spcBef>
                <a:spcPts val="0"/>
              </a:spcBef>
              <a:spcAft>
                <a:spcPts val="0"/>
              </a:spcAft>
            </a:pPr>
            <a:r>
              <a:rPr sz="5200" b="1" spc="-52">
                <a:solidFill>
                  <a:srgbClr val="1B2331"/>
                </a:solidFill>
                <a:latin typeface="Arial"/>
              </a:rPr>
              <a:t>Adaptive Colonoscopy Screening From a Mixed-Observability Markov Decision</a:t>
            </a:r>
          </a:p>
          <a:p>
            <a:pPr algn="ctr">
              <a:lnSpc>
                <a:spcPts val="5825"/>
              </a:lnSpc>
              <a:spcBef>
                <a:spcPts val="0"/>
              </a:spcBef>
              <a:spcAft>
                <a:spcPts val="0"/>
              </a:spcAft>
            </a:pPr>
            <a:r>
              <a:rPr sz="5200" b="1" spc="-52">
                <a:solidFill>
                  <a:srgbClr val="1B2331"/>
                </a:solidFill>
                <a:latin typeface="Arial"/>
              </a:rPr>
              <a:t>Process Built on the CMOST Microsimulation: More Cancers and Deaths</a:t>
            </a:r>
          </a:p>
          <a:p>
            <a:pPr algn="ctr">
              <a:lnSpc>
                <a:spcPts val="5825"/>
              </a:lnSpc>
              <a:spcBef>
                <a:spcPts val="0"/>
              </a:spcBef>
              <a:spcAft>
                <a:spcPts val="0"/>
              </a:spcAft>
            </a:pPr>
            <a:r>
              <a:rPr sz="5200" b="1" spc="-52">
                <a:solidFill>
                  <a:srgbClr val="1B2331"/>
                </a:solidFill>
                <a:latin typeface="Arial"/>
              </a:rPr>
              <a:t>Prevented per Colonoscopy Than Any Fixed Schedule</a:t>
            </a:r>
          </a:p>
        </p:txBody>
      </p:sp>
      <p:sp>
        <p:nvSpPr>
          <p:cNvPr id="169" name="TextBox 168"/>
          <p:cNvSpPr txBox="1"/>
          <p:nvPr/>
        </p:nvSpPr>
        <p:spPr>
          <a:xfrm rot="16200000">
            <a:off x="-2346121" y="14078632"/>
            <a:ext cx="8183688" cy="2071989"/>
          </a:xfrm>
          <a:prstGeom prst="rect">
            <a:avLst/>
          </a:prstGeom>
          <a:noFill/>
        </p:spPr>
        <p:txBody>
          <a:bodyPr wrap="none" lIns="177833" tIns="101618" rIns="177833" bIns="101618" anchor="ctr">
            <a:spAutoFit/>
          </a:bodyPr>
          <a:lstStyle/>
          <a:p>
            <a:pPr algn="ctr">
              <a:lnSpc>
                <a:spcPts val="7041"/>
              </a:lnSpc>
              <a:spcBef>
                <a:spcPts val="0"/>
              </a:spcBef>
              <a:spcAft>
                <a:spcPts val="0"/>
              </a:spcAft>
            </a:pPr>
            <a:r>
              <a:rPr sz="6401" b="1" spc="512">
                <a:solidFill>
                  <a:srgbClr val="FFFFFF"/>
                </a:solidFill>
                <a:latin typeface="Arial"/>
              </a:rPr>
              <a:t>METHOD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57341" y="38012606"/>
            <a:ext cx="29209168" cy="1204592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Takeaway 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57341" y="39402885"/>
            <a:ext cx="29209168" cy="1307596"/>
          </a:xfrm>
          <a:prstGeom prst="rect">
            <a:avLst/>
          </a:prstGeom>
          <a:noFill/>
        </p:spPr>
        <p:txBody>
          <a:bodyPr wrap="none" lIns="248966" tIns="106698" rIns="248966" bIns="106698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Individualising colonoscopy timing on realised findings prevents more cancers and deaths per colonoscopy than any fixed schedule, including schedules optimised</a:t>
            </a:r>
          </a:p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for the same simulator, and the gain survives imperfect adherence.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57341" y="40539925"/>
            <a:ext cx="29209168" cy="17781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The solved policy is a legible three-tier surveillance rule with a sex offset: a 15–20-year interval after a clean first exam, 3–9 years after 1–2 or advanced adenomas, and re-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examination within 1–4 years after ≥3 adenomas. Limitations: all results are internal to CMOST and inherit its calibration, and non-attendance is modelled as random. Life-years did not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differ significantly between adaptive and fixed schedules, an honest null reported alongside the positive findings.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09729" y="5608192"/>
            <a:ext cx="14401861" cy="1204590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Problem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74443" y="5608192"/>
            <a:ext cx="14401863" cy="1204590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Motivation 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09729" y="6998471"/>
            <a:ext cx="14401861" cy="1324022"/>
          </a:xfrm>
          <a:prstGeom prst="rect">
            <a:avLst/>
          </a:prstGeom>
          <a:noFill/>
        </p:spPr>
        <p:txBody>
          <a:bodyPr wrap="none" lIns="248966" tIns="42679" rIns="248966" bIns="42679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1C1C1C"/>
                </a:solidFill>
                <a:latin typeface="Arial"/>
              </a:rPr>
              <a:t>Can adapting each person's next interval to their own findings beat the best fixed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i="1">
                <a:solidFill>
                  <a:srgbClr val="1C1C1C"/>
                </a:solidFill>
                <a:latin typeface="Arial"/>
              </a:rPr>
              <a:t>schedule at equal or lower colonoscopy volume?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09729" y="8149796"/>
            <a:ext cx="14401861" cy="19865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536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Colonoscopy prevents colorectal cancer (CRC) but is </a:t>
            </a:r>
            <a:r>
              <a:rPr sz="2800" b="1">
                <a:solidFill>
                  <a:srgbClr val="111111"/>
                </a:solidFill>
                <a:latin typeface="Arial"/>
              </a:rPr>
              <a:t>scarce and invasive</a:t>
            </a:r>
            <a:r>
              <a:rPr sz="2800" b="0">
                <a:solidFill>
                  <a:srgbClr val="1C1C1C"/>
                </a:solidFill>
                <a:latin typeface="Arial"/>
              </a:rPr>
              <a:t>: </a:t>
            </a:r>
            <a:r>
              <a:rPr sz="2800" b="1">
                <a:solidFill>
                  <a:srgbClr val="111111"/>
                </a:solidFill>
                <a:highlight>
                  <a:srgbClr val="ECECEC"/>
                </a:highlight>
                <a:latin typeface="Arial"/>
              </a:rPr>
              <a:t>judge it by</a:t>
            </a:r>
          </a:p>
          <a:p>
            <a:pPr algn="l">
              <a:lnSpc>
                <a:spcPts val="4536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highlight>
                  <a:srgbClr val="ECECEC"/>
                </a:highlight>
                <a:latin typeface="Arial"/>
              </a:rPr>
              <a:t>what it prevents per exam.</a:t>
            </a:r>
            <a:r>
              <a:rPr sz="2800" b="0">
                <a:solidFill>
                  <a:srgbClr val="1C1C1C"/>
                </a:solidFill>
                <a:latin typeface="Arial"/>
              </a:rPr>
              <a:t> Optimised schedules (Zaika et al. 2024) are </a:t>
            </a:r>
            <a:r>
              <a:rPr sz="2800" b="1">
                <a:solidFill>
                  <a:srgbClr val="111111"/>
                </a:solidFill>
                <a:latin typeface="Arial"/>
              </a:rPr>
              <a:t>fixed</a:t>
            </a:r>
            <a:r>
              <a:rPr sz="2800" b="0">
                <a:solidFill>
                  <a:srgbClr val="1C1C1C"/>
                </a:solidFill>
                <a:latin typeface="Arial"/>
              </a:rPr>
              <a:t> and</a:t>
            </a:r>
          </a:p>
          <a:p>
            <a:pPr algn="l">
              <a:lnSpc>
                <a:spcPts val="4536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ignore what a person's </a:t>
            </a:r>
            <a:r>
              <a:rPr sz="2800" b="1">
                <a:solidFill>
                  <a:srgbClr val="111111"/>
                </a:solidFill>
                <a:latin typeface="Arial"/>
              </a:rPr>
              <a:t>colonoscopies found</a:t>
            </a:r>
            <a:r>
              <a:rPr sz="2800" b="0">
                <a:solidFill>
                  <a:srgbClr val="1C1C1C"/>
                </a:solidFill>
                <a:latin typeface="Arial"/>
              </a:rPr>
              <a:t>, the one signal screening itself generates.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09729" y="18792809"/>
            <a:ext cx="12124819" cy="1204589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Key Results 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3363722" y="18792809"/>
            <a:ext cx="7885055" cy="1204589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Robustness 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1901440" y="18792809"/>
            <a:ext cx="7885056" cy="1204589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Key numbers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3363722" y="26316443"/>
            <a:ext cx="7885055" cy="177813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</a:rPr>
              <a:t>Model ablation.</a:t>
            </a:r>
            <a:r>
              <a:rPr sz="2800" b="0">
                <a:solidFill>
                  <a:srgbClr val="1C1C1C"/>
                </a:solidFill>
                <a:latin typeface="Arial"/>
              </a:rPr>
              <a:t> Policies from three simpler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models still beat 10-yearly screening by 121–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172 deaths per 100,000 (n = 200,000).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09729" y="29746202"/>
            <a:ext cx="14401861" cy="1204589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What the policy does 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5574443" y="29746202"/>
            <a:ext cx="14401863" cy="1204589"/>
          </a:xfrm>
          <a:prstGeom prst="rect">
            <a:avLst/>
          </a:prstGeom>
          <a:noFill/>
        </p:spPr>
        <p:txBody>
          <a:bodyPr wrap="square" lIns="0" tIns="0" rIns="228643" bIns="190533">
            <a:spAutoFit/>
          </a:bodyPr>
          <a:lstStyle/>
          <a:p>
            <a:pPr algn="l">
              <a:lnSpc>
                <a:spcPts val="6601"/>
              </a:lnSpc>
              <a:spcBef>
                <a:spcPts val="0"/>
              </a:spcBef>
              <a:spcAft>
                <a:spcPts val="0"/>
              </a:spcAft>
            </a:pPr>
            <a:r>
              <a:rPr sz="6001" b="1">
                <a:solidFill>
                  <a:srgbClr val="0F6070"/>
                </a:solidFill>
                <a:latin typeface="Arial"/>
              </a:rPr>
              <a:t>Risk information vs adaptivity 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5574443" y="31136481"/>
            <a:ext cx="14401863" cy="182194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If the risk class were </a:t>
            </a:r>
            <a:r>
              <a:rPr sz="2800" b="1">
                <a:solidFill>
                  <a:srgbClr val="111111"/>
                </a:solidFill>
                <a:latin typeface="Arial"/>
              </a:rPr>
              <a:t>observable at baseline</a:t>
            </a:r>
            <a:r>
              <a:rPr sz="2800" b="0">
                <a:solidFill>
                  <a:srgbClr val="1C1C1C"/>
                </a:solidFill>
                <a:latin typeface="Arial"/>
              </a:rPr>
              <a:t>, the policy would target it explicitly: </a:t>
            </a:r>
            <a:r>
              <a:rPr sz="2800" b="1">
                <a:solidFill>
                  <a:srgbClr val="111111"/>
                </a:solidFill>
                <a:highlight>
                  <a:srgbClr val="ECECEC"/>
                </a:highlight>
                <a:latin typeface="Arial"/>
              </a:rPr>
              <a:t>6.34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highlight>
                  <a:srgbClr val="ECECEC"/>
                </a:highlight>
                <a:latin typeface="Arial"/>
              </a:rPr>
              <a:t>deaths averted per 1,000 colonoscopies,</a:t>
            </a:r>
            <a:r>
              <a:rPr sz="2800" b="0">
                <a:solidFill>
                  <a:srgbClr val="1C1C1C"/>
                </a:solidFill>
                <a:latin typeface="Arial"/>
              </a:rPr>
              <a:t> none for the lowest-risk half and </a:t>
            </a:r>
            <a:r>
              <a:rPr sz="2968" b="1">
                <a:solidFill>
                  <a:srgbClr val="111111"/>
                </a:solidFill>
                <a:latin typeface="Arial"/>
              </a:rPr>
              <a:t>7.49</a:t>
            </a:r>
            <a:r>
              <a:rPr sz="2800" b="0">
                <a:solidFill>
                  <a:srgbClr val="1C1C1C"/>
                </a:solidFill>
                <a:latin typeface="Arial"/>
              </a:rPr>
              <a:t> for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the highest-risk 5% (mortality 5,535 under 10-yearly to 1,956 per 100,000).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09729" y="34448064"/>
            <a:ext cx="14401861" cy="118542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</a:rPr>
              <a:t>Graded, immediate response:</a:t>
            </a:r>
            <a:r>
              <a:rPr sz="2800" b="0">
                <a:solidFill>
                  <a:srgbClr val="1C1C1C"/>
                </a:solidFill>
                <a:latin typeface="Arial"/>
              </a:rPr>
              <a:t> 1–2 adenomas bring the next exam in 9 years (men) or</a:t>
            </a:r>
          </a:p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5 (women); an advanced adenoma in 3 or 5.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09729" y="35656522"/>
            <a:ext cx="14401861" cy="1233165"/>
          </a:xfrm>
          <a:prstGeom prst="rect">
            <a:avLst/>
          </a:prstGeom>
          <a:noFill/>
        </p:spPr>
        <p:txBody>
          <a:bodyPr wrap="square" lIns="0" tIns="147244" rIns="0" bIns="0">
            <a:spAutoFit/>
          </a:bodyPr>
          <a:lstStyle/>
          <a:p>
            <a:pPr algn="l">
              <a:lnSpc>
                <a:spcPts val="3607"/>
              </a:lnSpc>
              <a:spcBef>
                <a:spcPts val="0"/>
              </a:spcBef>
              <a:spcAft>
                <a:spcPts val="0"/>
              </a:spcAft>
            </a:pPr>
            <a:r>
              <a:rPr sz="2009" b="1" spc="120">
                <a:solidFill>
                  <a:srgbClr val="111111"/>
                </a:solidFill>
                <a:latin typeface="Arial"/>
              </a:rPr>
              <a:t>SO WHAT → </a:t>
            </a:r>
            <a:r>
              <a:rPr sz="2576" b="0" i="1">
                <a:solidFill>
                  <a:srgbClr val="1C1C1C"/>
                </a:solidFill>
                <a:latin typeface="Arial"/>
              </a:rPr>
              <a:t>A clean first exam earns 15–20 years; ≥3 adenomas pull the next exam to within 1–4 years (1 here); the sexes are offset by ~9 years (49 vs 58).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574443" y="36038313"/>
            <a:ext cx="14401863" cy="592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1C1C1C"/>
                </a:solidFill>
                <a:latin typeface="Arial"/>
              </a:rPr>
              <a:t>In the engine (n = 200,000) the two cannot be told apart (+6.5 ± 25.1 per 100,000).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845845" y="2979636"/>
            <a:ext cx="15012119" cy="6351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435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646A73"/>
                </a:solidFill>
                <a:latin typeface="Arial"/>
              </a:rPr>
              <a:t>Taehyung Lee</a:t>
            </a:r>
            <a:r>
              <a:rPr sz="4200" b="0" baseline="30000">
                <a:solidFill>
                  <a:srgbClr val="646A73"/>
                </a:solidFill>
                <a:latin typeface="Arial"/>
              </a:rPr>
              <a:t>1</a:t>
            </a:r>
            <a:r>
              <a:rPr sz="3000" b="0">
                <a:solidFill>
                  <a:srgbClr val="646A73"/>
                </a:solidFill>
                <a:latin typeface="Arial"/>
              </a:rPr>
              <a:t>, Inseo Choi</a:t>
            </a:r>
            <a:r>
              <a:rPr sz="4200" b="0" baseline="30000">
                <a:solidFill>
                  <a:srgbClr val="646A73"/>
                </a:solidFill>
                <a:latin typeface="Arial"/>
              </a:rPr>
              <a:t>2</a:t>
            </a:r>
            <a:r>
              <a:rPr sz="3000" b="0">
                <a:solidFill>
                  <a:srgbClr val="646A73"/>
                </a:solidFill>
                <a:latin typeface="Arial"/>
              </a:rPr>
              <a:t>, Jaehoon Shim</a:t>
            </a:r>
            <a:r>
              <a:rPr sz="4200" b="0" baseline="30000">
                <a:solidFill>
                  <a:srgbClr val="646A73"/>
                </a:solidFill>
                <a:latin typeface="Arial"/>
              </a:rPr>
              <a:t>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845845" y="4009252"/>
            <a:ext cx="15012119" cy="5080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34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46A73"/>
                </a:solidFill>
                <a:latin typeface="Arial"/>
              </a:rPr>
              <a:t>Email: daybreaker9502@gmail.com  ·  Phone: 010-8023-3200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207633" y="3090544"/>
            <a:ext cx="2993502" cy="78845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5401"/>
              </a:lnSpc>
              <a:spcBef>
                <a:spcPts val="0"/>
              </a:spcBef>
              <a:spcAft>
                <a:spcPts val="0"/>
              </a:spcAft>
            </a:pPr>
            <a:r>
              <a:rPr sz="5401" b="1" spc="-54">
                <a:solidFill>
                  <a:srgbClr val="1B2331"/>
                </a:solidFill>
                <a:latin typeface="Arial"/>
              </a:rPr>
              <a:t>KoSAIM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08394" y="3829427"/>
            <a:ext cx="931782" cy="59271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0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224">
                <a:solidFill>
                  <a:srgbClr val="1B2331"/>
                </a:solidFill>
                <a:latin typeface="Arial"/>
              </a:rPr>
              <a:t>2026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001725" y="4459099"/>
            <a:ext cx="1357673" cy="42348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spc="360">
                <a:solidFill>
                  <a:srgbClr val="1B2331"/>
                </a:solidFill>
                <a:latin typeface="Arial"/>
              </a:rPr>
              <a:t>POSTER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630991" y="4575452"/>
            <a:ext cx="765350" cy="4175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spc="88">
                <a:solidFill>
                  <a:srgbClr val="1B2331"/>
                </a:solidFill>
                <a:latin typeface="Arial"/>
              </a:rPr>
              <a:t>Code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5574230" y="6998471"/>
            <a:ext cx="14402083" cy="18219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391234" indent="-391234"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20204" pitchFamily="34" charset="0"/>
              <a:buChar char="•"/>
            </a:pPr>
            <a:r>
              <a:rPr sz="2800" b="1">
                <a:solidFill>
                  <a:srgbClr val="111111"/>
                </a:solidFill>
                <a:latin typeface="Arial"/>
              </a:rPr>
              <a:t>A colonoscopy is evidence.</a:t>
            </a:r>
            <a:r>
              <a:rPr sz="2800" b="0">
                <a:solidFill>
                  <a:srgbClr val="1C1C1C"/>
                </a:solidFill>
                <a:latin typeface="Arial"/>
              </a:rPr>
              <a:t> ≥3 adenomas lift the probability of the high-risk classes</a:t>
            </a:r>
          </a:p>
          <a:p>
            <a:pPr marL="391234" indent="0"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0">
                <a:solidFill>
                  <a:srgbClr val="1C1C1C"/>
                </a:solidFill>
                <a:latin typeface="Arial"/>
              </a:rPr>
              <a:t>from </a:t>
            </a:r>
            <a:r>
              <a:rPr sz="2968" b="1">
                <a:solidFill>
                  <a:srgbClr val="111111"/>
                </a:solidFill>
                <a:latin typeface="Arial"/>
              </a:rPr>
              <a:t>0.05</a:t>
            </a:r>
            <a:r>
              <a:rPr sz="2800" b="0">
                <a:solidFill>
                  <a:srgbClr val="1C1C1C"/>
                </a:solidFill>
                <a:latin typeface="Arial"/>
              </a:rPr>
              <a:t> to </a:t>
            </a:r>
            <a:r>
              <a:rPr sz="2968" b="1">
                <a:solidFill>
                  <a:srgbClr val="111111"/>
                </a:solidFill>
                <a:latin typeface="Arial"/>
              </a:rPr>
              <a:t>0.93</a:t>
            </a:r>
            <a:r>
              <a:rPr sz="2800" b="0">
                <a:solidFill>
                  <a:srgbClr val="1C1C1C"/>
                </a:solidFill>
                <a:latin typeface="Arial"/>
              </a:rPr>
              <a:t> in men (0.98 in women); a normal exam lowers it to 0.007 in men</a:t>
            </a:r>
          </a:p>
          <a:p>
            <a:pPr marL="391234" indent="0" algn="l"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0">
                <a:solidFill>
                  <a:srgbClr val="1C1C1C"/>
                </a:solidFill>
                <a:latin typeface="Arial"/>
              </a:rPr>
              <a:t>and 0.017 in women.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5574443" y="8787057"/>
            <a:ext cx="1458975" cy="9556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6546"/>
              </a:lnSpc>
              <a:spcBef>
                <a:spcPts val="0"/>
              </a:spcBef>
              <a:spcAft>
                <a:spcPts val="0"/>
              </a:spcAft>
            </a:pPr>
            <a:r>
              <a:rPr sz="5595" b="1">
                <a:solidFill>
                  <a:srgbClr val="0F6070"/>
                </a:solidFill>
                <a:latin typeface="Arial"/>
              </a:rPr>
              <a:t>23×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7102814" y="8787057"/>
            <a:ext cx="12827641" cy="1066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 dirty="0">
                <a:solidFill>
                  <a:srgbClr val="555555"/>
                </a:solidFill>
                <a:latin typeface="Arial"/>
              </a:rPr>
              <a:t>higher lifetime CRC incidence in the top 2% of latent risk than in the bottom half: a</a:t>
            </a:r>
          </a:p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 dirty="0">
                <a:solidFill>
                  <a:srgbClr val="555555"/>
                </a:solidFill>
                <a:latin typeface="Arial"/>
              </a:rPr>
              <a:t>gradient no fixed schedule can express, but one the policy infers from findings alone.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906945" y="17796372"/>
            <a:ext cx="12820897" cy="3719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2548"/>
              </a:lnSpc>
              <a:spcBef>
                <a:spcPts val="0"/>
              </a:spcBef>
              <a:spcAft>
                <a:spcPts val="0"/>
              </a:spcAft>
            </a:pPr>
            <a:r>
              <a:rPr sz="1960" b="0" i="1">
                <a:solidFill>
                  <a:srgbClr val="555555"/>
                </a:solidFill>
                <a:latin typeface="Arial"/>
              </a:rPr>
              <a:t>CMOST supplies the kernels; point-based value iteration solves the MOMDP; policies run back inside the engine.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23879158" y="20421150"/>
            <a:ext cx="3810957" cy="138698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9501"/>
              </a:lnSpc>
              <a:spcBef>
                <a:spcPts val="0"/>
              </a:spcBef>
              <a:spcAft>
                <a:spcPts val="0"/>
              </a:spcAft>
            </a:pPr>
            <a:r>
              <a:rPr sz="10001" b="1" spc="-200">
                <a:solidFill>
                  <a:srgbClr val="0F6070"/>
                </a:solidFill>
                <a:latin typeface="Arial"/>
              </a:rPr>
              <a:t>+30%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2164799" y="21700728"/>
            <a:ext cx="7342537" cy="15420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C1C1C"/>
                </a:solidFill>
                <a:latin typeface="Arial"/>
              </a:rPr>
              <a:t>CRC deaths averted per 1,000</a:t>
            </a:r>
          </a:p>
          <a:p>
            <a:pPr algn="ctr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C1C1C"/>
                </a:solidFill>
                <a:latin typeface="Arial"/>
              </a:rPr>
              <a:t>colonoscopies vs 10-yearly</a:t>
            </a:r>
          </a:p>
          <a:p>
            <a:pPr algn="ctr">
              <a:lnSpc>
                <a:spcPts val="352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C1C1C"/>
                </a:solidFill>
                <a:latin typeface="Arial"/>
              </a:rPr>
              <a:t>screening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3669932" y="23524725"/>
            <a:ext cx="7254110" cy="87127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985"/>
              </a:lnSpc>
              <a:spcBef>
                <a:spcPts val="0"/>
              </a:spcBef>
              <a:spcAft>
                <a:spcPts val="0"/>
              </a:spcAft>
            </a:pPr>
            <a:r>
              <a:rPr sz="2296" b="0" i="1">
                <a:solidFill>
                  <a:srgbClr val="555555"/>
                </a:solidFill>
                <a:latin typeface="Arial"/>
              </a:rPr>
              <a:t>Mortality and colonoscopy use vs adherence; n =</a:t>
            </a:r>
          </a:p>
          <a:p>
            <a:pPr algn="ctr">
              <a:lnSpc>
                <a:spcPts val="2985"/>
              </a:lnSpc>
              <a:spcBef>
                <a:spcPts val="0"/>
              </a:spcBef>
              <a:spcAft>
                <a:spcPts val="0"/>
              </a:spcAft>
            </a:pPr>
            <a:r>
              <a:rPr sz="2296" b="0" i="1">
                <a:solidFill>
                  <a:srgbClr val="555555"/>
                </a:solidFill>
                <a:latin typeface="Arial"/>
              </a:rPr>
              <a:t>200,000.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3363722" y="24381449"/>
            <a:ext cx="1707552" cy="9556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6546"/>
              </a:lnSpc>
              <a:spcBef>
                <a:spcPts val="0"/>
              </a:spcBef>
              <a:spcAft>
                <a:spcPts val="0"/>
              </a:spcAft>
            </a:pPr>
            <a:r>
              <a:rPr sz="5595" b="1">
                <a:solidFill>
                  <a:srgbClr val="0F6070"/>
                </a:solidFill>
                <a:latin typeface="Arial"/>
              </a:rPr>
              <a:t>18%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5133430" y="24381449"/>
            <a:ext cx="6062256" cy="213335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>
                <a:solidFill>
                  <a:srgbClr val="555555"/>
                </a:solidFill>
                <a:latin typeface="Arial"/>
              </a:rPr>
              <a:t>mortality cut by fixed 10-yearly screening</a:t>
            </a:r>
          </a:p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>
                <a:solidFill>
                  <a:srgbClr val="555555"/>
                </a:solidFill>
                <a:latin typeface="Arial"/>
              </a:rPr>
              <a:t>(missed slot lost) at 30% attendance,</a:t>
            </a:r>
          </a:p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>
                <a:solidFill>
                  <a:srgbClr val="555555"/>
                </a:solidFill>
                <a:latin typeface="Arial"/>
              </a:rPr>
              <a:t>down from 46%; the adaptive policy, not</a:t>
            </a:r>
          </a:p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>
                <a:solidFill>
                  <a:srgbClr val="555555"/>
                </a:solidFill>
                <a:latin typeface="Arial"/>
              </a:rPr>
              <a:t>re-solved, holds 44–53%.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72671" y="27851053"/>
            <a:ext cx="9729004" cy="4356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2985"/>
              </a:lnSpc>
              <a:spcBef>
                <a:spcPts val="0"/>
              </a:spcBef>
              <a:spcAft>
                <a:spcPts val="0"/>
              </a:spcAft>
            </a:pPr>
            <a:r>
              <a:rPr sz="2296" b="0" i="1">
                <a:solidFill>
                  <a:srgbClr val="555555"/>
                </a:solidFill>
                <a:latin typeface="Arial"/>
              </a:rPr>
              <a:t>Efficiency frontiers in the engine: CRC deaths (left) and diagnoses (right).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5574443" y="35030867"/>
            <a:ext cx="971016" cy="95563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6546"/>
              </a:lnSpc>
              <a:spcBef>
                <a:spcPts val="0"/>
              </a:spcBef>
              <a:spcAft>
                <a:spcPts val="0"/>
              </a:spcAft>
            </a:pPr>
            <a:r>
              <a:rPr sz="5595" b="1">
                <a:solidFill>
                  <a:srgbClr val="0F6070"/>
                </a:solidFill>
                <a:latin typeface="Arial"/>
              </a:rPr>
              <a:t>3×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6629068" y="35030867"/>
            <a:ext cx="13315600" cy="10666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>
                <a:solidFill>
                  <a:srgbClr val="555555"/>
                </a:solidFill>
                <a:latin typeface="Arial"/>
              </a:rPr>
              <a:t>more benefit from adaptivity than from a realistic baseline risk score; the two gains are</a:t>
            </a:r>
          </a:p>
          <a:p>
            <a:pPr algn="l">
              <a:lnSpc>
                <a:spcPts val="3654"/>
              </a:lnSpc>
              <a:spcBef>
                <a:spcPts val="0"/>
              </a:spcBef>
              <a:spcAft>
                <a:spcPts val="0"/>
              </a:spcAft>
            </a:pPr>
            <a:r>
              <a:rPr sz="2520" b="0">
                <a:solidFill>
                  <a:srgbClr val="555555"/>
                </a:solidFill>
                <a:latin typeface="Arial"/>
              </a:rPr>
              <a:t>nearly additive.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845845" y="3576575"/>
            <a:ext cx="15012119" cy="4655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3190"/>
              </a:lnSpc>
              <a:spcBef>
                <a:spcPts val="0"/>
              </a:spcBef>
              <a:spcAft>
                <a:spcPts val="0"/>
              </a:spcAft>
            </a:pPr>
            <a:r>
              <a:rPr sz="2002" b="0" spc="44" baseline="30000">
                <a:solidFill>
                  <a:srgbClr val="646A73"/>
                </a:solidFill>
                <a:latin typeface="Arial"/>
              </a:rPr>
              <a:t>1</a:t>
            </a:r>
            <a:r>
              <a:rPr sz="2200" b="0" spc="44">
                <a:solidFill>
                  <a:srgbClr val="646A73"/>
                </a:solidFill>
                <a:latin typeface="Arial"/>
              </a:rPr>
              <a:t> University of Ulsan College of Medicine    </a:t>
            </a:r>
            <a:r>
              <a:rPr sz="3080" b="0" spc="44" baseline="30000">
                <a:solidFill>
                  <a:srgbClr val="646A73"/>
                </a:solidFill>
                <a:latin typeface="Arial"/>
              </a:rPr>
              <a:t>2</a:t>
            </a:r>
            <a:r>
              <a:rPr sz="2200" b="0" spc="44">
                <a:solidFill>
                  <a:srgbClr val="646A73"/>
                </a:solidFill>
                <a:latin typeface="Arial"/>
              </a:rPr>
              <a:t> Chosun University College of Medicine    </a:t>
            </a:r>
            <a:r>
              <a:rPr sz="3080" b="0" spc="44" baseline="30000">
                <a:solidFill>
                  <a:srgbClr val="646A73"/>
                </a:solidFill>
                <a:latin typeface="Arial"/>
              </a:rPr>
              <a:t>3</a:t>
            </a:r>
            <a:r>
              <a:rPr sz="2200" b="0" spc="44">
                <a:solidFill>
                  <a:srgbClr val="646A73"/>
                </a:solidFill>
                <a:latin typeface="Arial"/>
              </a:rPr>
              <a:t> Seoul National University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0145523" y="11022782"/>
            <a:ext cx="9693651" cy="24511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11111"/>
                </a:solidFill>
                <a:latin typeface="Arial"/>
              </a:rPr>
              <a:t>State.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Observed: age, sex, years since last colonoscopy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1C1C1C"/>
                </a:solidFill>
                <a:latin typeface="Arial"/>
              </a:rPr>
              <a:t>(τ), last finding (normal / 1–2 / ≥3 / advanced adenomas).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1C1C1C"/>
                </a:solidFill>
                <a:latin typeface="Arial"/>
              </a:rPr>
              <a:t>Hidden belief: </a:t>
            </a:r>
            <a:r>
              <a:rPr sz="2968" b="1" dirty="0">
                <a:solidFill>
                  <a:srgbClr val="111111"/>
                </a:solidFill>
                <a:latin typeface="Arial"/>
              </a:rPr>
              <a:t>6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risk classes × </a:t>
            </a:r>
            <a:r>
              <a:rPr sz="2968" b="1" dirty="0">
                <a:solidFill>
                  <a:srgbClr val="111111"/>
                </a:solidFill>
                <a:latin typeface="Arial"/>
              </a:rPr>
              <a:t>11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clinical states. WAIT or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1C1C1C"/>
                </a:solidFill>
                <a:latin typeface="Arial"/>
              </a:rPr>
              <a:t>SCREEN yearly, ages 40–80.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0145523" y="13367390"/>
            <a:ext cx="9693651" cy="1878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11111"/>
                </a:solidFill>
                <a:latin typeface="Arial"/>
              </a:rPr>
              <a:t>Kernels from the engine.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Maximum-likelihood estimates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1C1C1C"/>
                </a:solidFill>
                <a:latin typeface="Arial"/>
              </a:rPr>
              <a:t>from 4,000,000 CMOST lives (</a:t>
            </a:r>
            <a:r>
              <a:rPr sz="2968" b="1" dirty="0">
                <a:solidFill>
                  <a:srgbClr val="111111"/>
                </a:solidFill>
                <a:latin typeface="Arial"/>
              </a:rPr>
              <a:t>4,520,648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colonoscopies),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1C1C1C"/>
                </a:solidFill>
                <a:latin typeface="Arial"/>
              </a:rPr>
              <a:t>conditioned on (τ, last finding).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0145523" y="15214449"/>
            <a:ext cx="9693651" cy="29575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11111"/>
                </a:solidFill>
                <a:latin typeface="Arial"/>
              </a:rPr>
              <a:t>Solve, then deploy.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Point-based value iteration; the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rgbClr val="1C1C1C"/>
                </a:solidFill>
                <a:latin typeface="Arial"/>
              </a:rPr>
              <a:t>shadow price λ sweeps the frontier. Every policy is re-run inside</a:t>
            </a:r>
            <a:r>
              <a:rPr lang="en-US" sz="2800" b="0" dirty="0">
                <a:solidFill>
                  <a:srgbClr val="1C1C1C"/>
                </a:solidFill>
                <a:latin typeface="Arial"/>
              </a:rPr>
              <a:t> 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CMOST on its simulated findings against 10-yearly and 5-yearly</a:t>
            </a:r>
            <a:r>
              <a:rPr lang="en-US" sz="2800" b="0" dirty="0">
                <a:solidFill>
                  <a:srgbClr val="1C1C1C"/>
                </a:solidFill>
                <a:latin typeface="Arial"/>
              </a:rPr>
              <a:t> 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screening, the best of 2,112 fixed schedules </a:t>
            </a:r>
            <a:br>
              <a:rPr lang="en-US" sz="2800" dirty="0">
                <a:solidFill>
                  <a:srgbClr val="1C1C1C"/>
                </a:solidFill>
                <a:latin typeface="Arial"/>
              </a:rPr>
            </a:br>
            <a:r>
              <a:rPr sz="2800" b="0" dirty="0">
                <a:solidFill>
                  <a:srgbClr val="1C1C1C"/>
                </a:solidFill>
                <a:latin typeface="Arial"/>
              </a:rPr>
              <a:t>and 10-yearly +</a:t>
            </a:r>
            <a:r>
              <a:rPr lang="en-US" sz="2800" b="0" dirty="0">
                <a:solidFill>
                  <a:srgbClr val="1C1C1C"/>
                </a:solidFill>
                <a:latin typeface="Arial"/>
              </a:rPr>
              <a:t> 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surveillance (headline arms: </a:t>
            </a:r>
            <a:r>
              <a:rPr sz="2968" b="1" dirty="0">
                <a:solidFill>
                  <a:srgbClr val="111111"/>
                </a:solidFill>
                <a:latin typeface="Arial"/>
              </a:rPr>
              <a:t>1,000,000</a:t>
            </a:r>
            <a:r>
              <a:rPr sz="2800" b="0" dirty="0">
                <a:solidFill>
                  <a:srgbClr val="1C1C1C"/>
                </a:solidFill>
                <a:latin typeface="Arial"/>
              </a:rPr>
              <a:t> persons).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09729" y="20183087"/>
            <a:ext cx="3782454" cy="591343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l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PROGRAMME (ENGINE, 1,000,000 PER</a:t>
            </a:r>
          </a:p>
          <a:p>
            <a:pPr algn="l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ARM)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382014" y="20183087"/>
            <a:ext cx="2444549" cy="591343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COLONOSCOPIES PER</a:t>
            </a:r>
          </a:p>
          <a:p>
            <a:pPr algn="ctr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PERSON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755363" y="20183087"/>
            <a:ext cx="1751077" cy="591343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CRC DEATHS</a:t>
            </a:r>
          </a:p>
          <a:p>
            <a:pPr algn="ctr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PER 100,000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455438" y="20183087"/>
            <a:ext cx="4146738" cy="591343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DEATHS AVERTED VS NO SCREENING PER</a:t>
            </a:r>
          </a:p>
          <a:p>
            <a:pPr algn="ctr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333" b="1" spc="66">
                <a:solidFill>
                  <a:srgbClr val="0F6070"/>
                </a:solidFill>
                <a:latin typeface="Arial"/>
              </a:rPr>
              <a:t>1,000 COLONOSCOPIES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09729" y="20697299"/>
            <a:ext cx="3782454" cy="447788"/>
          </a:xfrm>
          <a:prstGeom prst="rect">
            <a:avLst/>
          </a:prstGeom>
          <a:noFill/>
        </p:spPr>
        <p:txBody>
          <a:bodyPr wrap="square" lIns="57160" tIns="9526" rIns="57160" bIns="9526">
            <a:spAutoFit/>
          </a:bodyPr>
          <a:lstStyle/>
          <a:p>
            <a:pPr algn="l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1C1C1C"/>
                </a:solidFill>
                <a:latin typeface="Arial"/>
              </a:rPr>
              <a:t>Fixed 10-yearly (50/60/70)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382014" y="20697299"/>
            <a:ext cx="2444549" cy="447788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2.58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755363" y="20697299"/>
            <a:ext cx="1751077" cy="447788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1032.1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55438" y="20697299"/>
            <a:ext cx="4146738" cy="447788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3.32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09729" y="21086681"/>
            <a:ext cx="3782454" cy="447784"/>
          </a:xfrm>
          <a:prstGeom prst="rect">
            <a:avLst/>
          </a:prstGeom>
          <a:noFill/>
        </p:spPr>
        <p:txBody>
          <a:bodyPr wrap="square" lIns="57160" tIns="9526" rIns="57160" bIns="9526">
            <a:spAutoFit/>
          </a:bodyPr>
          <a:lstStyle/>
          <a:p>
            <a:pPr algn="l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1C1C1C"/>
                </a:solidFill>
                <a:latin typeface="Arial"/>
              </a:rPr>
              <a:t>Best fixed, no surveillance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382014" y="21086681"/>
            <a:ext cx="2444549" cy="447784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2.44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6755363" y="21086681"/>
            <a:ext cx="1751077" cy="447784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980.9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455438" y="21086681"/>
            <a:ext cx="4146738" cy="447784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3.71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9729" y="21476059"/>
            <a:ext cx="3782454" cy="447786"/>
          </a:xfrm>
          <a:prstGeom prst="rect">
            <a:avLst/>
          </a:prstGeom>
          <a:noFill/>
        </p:spPr>
        <p:txBody>
          <a:bodyPr wrap="square" lIns="57160" tIns="9526" rIns="57160" bIns="9526">
            <a:spAutoFit/>
          </a:bodyPr>
          <a:lstStyle/>
          <a:p>
            <a:pPr algn="l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0F6070"/>
                </a:solidFill>
                <a:latin typeface="Arial"/>
              </a:rPr>
              <a:t>Adaptive policy (ours)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382014" y="21476059"/>
            <a:ext cx="2444549" cy="447786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0F6070"/>
                </a:solidFill>
                <a:latin typeface="Arial"/>
              </a:rPr>
              <a:t>2.29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6755363" y="21476059"/>
            <a:ext cx="1751077" cy="447786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0F6070"/>
                </a:solidFill>
                <a:latin typeface="Arial"/>
              </a:rPr>
              <a:t>899.8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55438" y="21476059"/>
            <a:ext cx="4146738" cy="447786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0F6070"/>
                </a:solidFill>
                <a:latin typeface="Arial"/>
              </a:rPr>
              <a:t>4.32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09729" y="21865438"/>
            <a:ext cx="3782454" cy="447784"/>
          </a:xfrm>
          <a:prstGeom prst="rect">
            <a:avLst/>
          </a:prstGeom>
          <a:noFill/>
        </p:spPr>
        <p:txBody>
          <a:bodyPr wrap="square" lIns="57160" tIns="9526" rIns="57160" bIns="9526">
            <a:spAutoFit/>
          </a:bodyPr>
          <a:lstStyle/>
          <a:p>
            <a:pPr algn="l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1C1C1C"/>
                </a:solidFill>
                <a:latin typeface="Arial"/>
              </a:rPr>
              <a:t>10-yearly + surveillance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382014" y="21865438"/>
            <a:ext cx="2444549" cy="447784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2.95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6755363" y="21865438"/>
            <a:ext cx="1751077" cy="447784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879.8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455438" y="21865438"/>
            <a:ext cx="4146738" cy="447784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3.42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09729" y="22254816"/>
            <a:ext cx="3782454" cy="447788"/>
          </a:xfrm>
          <a:prstGeom prst="rect">
            <a:avLst/>
          </a:prstGeom>
          <a:noFill/>
        </p:spPr>
        <p:txBody>
          <a:bodyPr wrap="square" lIns="57160" tIns="9526" rIns="57160" bIns="9526">
            <a:spAutoFit/>
          </a:bodyPr>
          <a:lstStyle/>
          <a:p>
            <a:pPr algn="l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1C1C1C"/>
                </a:solidFill>
                <a:latin typeface="Arial"/>
              </a:rPr>
              <a:t>Adaptive, matched volume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382014" y="22254816"/>
            <a:ext cx="2444549" cy="447788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2.87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755363" y="22254816"/>
            <a:ext cx="1751077" cy="447788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818.1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455438" y="22254816"/>
            <a:ext cx="4146738" cy="447788"/>
          </a:xfrm>
          <a:prstGeom prst="rect">
            <a:avLst/>
          </a:prstGeom>
          <a:noFill/>
        </p:spPr>
        <p:txBody>
          <a:bodyPr wrap="none" lIns="57160" tIns="9526" rIns="57160" bIns="9526">
            <a:spAutoFit/>
          </a:bodyPr>
          <a:lstStyle/>
          <a:p>
            <a:pPr algn="ctr">
              <a:lnSpc>
                <a:spcPts val="2842"/>
              </a:lnSpc>
              <a:spcBef>
                <a:spcPts val="0"/>
              </a:spcBef>
              <a:spcAft>
                <a:spcPts val="0"/>
              </a:spcAft>
            </a:pPr>
            <a:r>
              <a:rPr sz="1960" b="0">
                <a:solidFill>
                  <a:srgbClr val="1C1C1C"/>
                </a:solidFill>
                <a:latin typeface="Arial"/>
              </a:rPr>
              <a:t>3.72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3285931" y="23495266"/>
            <a:ext cx="1215301" cy="6132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-42">
                <a:solidFill>
                  <a:srgbClr val="AE2622"/>
                </a:solidFill>
                <a:latin typeface="Arial"/>
              </a:rPr>
              <a:t>−132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6992440" y="23495266"/>
            <a:ext cx="1215301" cy="6132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-42">
                <a:solidFill>
                  <a:srgbClr val="AE2622"/>
                </a:solidFill>
                <a:latin typeface="Arial"/>
              </a:rPr>
              <a:t>−201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2164799" y="24099495"/>
            <a:ext cx="3524835" cy="73575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CRC deaths per 100,000 vs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10-yearly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5871306" y="24099495"/>
            <a:ext cx="3524835" cy="73575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CRC diagnoses per 100,000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vs 10-yearly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23211833" y="24881379"/>
            <a:ext cx="1367943" cy="6132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-42">
                <a:solidFill>
                  <a:srgbClr val="AE2622"/>
                </a:solidFill>
                <a:latin typeface="Arial"/>
              </a:rPr>
              <a:t>−11%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26619869" y="24881379"/>
            <a:ext cx="1982794" cy="61324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-42">
                <a:solidFill>
                  <a:srgbClr val="AE2622"/>
                </a:solidFill>
                <a:latin typeface="Arial"/>
              </a:rPr>
              <a:t>44–53%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22164799" y="25485610"/>
            <a:ext cx="3524835" cy="73575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colonoscopies per person vs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10-yearly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25871306" y="25485610"/>
            <a:ext cx="3524835" cy="73575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mortality cut at attendance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0.3–1.0 (n = 200,000)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23431596" y="26267490"/>
            <a:ext cx="915231" cy="6132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-42">
                <a:solidFill>
                  <a:srgbClr val="AE2622"/>
                </a:solidFill>
                <a:latin typeface="Arial"/>
              </a:rPr>
              <a:t>−81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26903612" y="26267490"/>
            <a:ext cx="1398133" cy="6132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-42">
                <a:solidFill>
                  <a:srgbClr val="AE2622"/>
                </a:solidFill>
                <a:latin typeface="Arial"/>
              </a:rPr>
              <a:t>+18%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22164799" y="26871719"/>
            <a:ext cx="3524835" cy="73576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CRC deaths per 100,000 vs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best fixed, no surveillance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5871306" y="26871719"/>
            <a:ext cx="3524835" cy="1103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deaths averted per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colonoscopy vs 5-yearly</a:t>
            </a:r>
          </a:p>
          <a:p>
            <a:pPr algn="ctr">
              <a:lnSpc>
                <a:spcPts val="252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55555"/>
                </a:solidFill>
                <a:latin typeface="Arial"/>
              </a:rPr>
              <a:t>screening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09729" y="31136481"/>
            <a:ext cx="6048769" cy="814466"/>
          </a:xfrm>
          <a:prstGeom prst="rect">
            <a:avLst/>
          </a:prstGeom>
          <a:noFill/>
        </p:spPr>
        <p:txBody>
          <a:bodyPr wrap="none" lIns="110701" tIns="30996" rIns="110701" bIns="30996">
            <a:spAutoFit/>
          </a:bodyPr>
          <a:lstStyle/>
          <a:p>
            <a:pPr algn="l">
              <a:lnSpc>
                <a:spcPts val="2527"/>
              </a:lnSpc>
              <a:spcBef>
                <a:spcPts val="0"/>
              </a:spcBef>
              <a:spcAft>
                <a:spcPts val="0"/>
              </a:spcAft>
            </a:pPr>
            <a:r>
              <a:rPr sz="1743" b="1" spc="87">
                <a:solidFill>
                  <a:srgbClr val="555555"/>
                </a:solidFill>
                <a:latin typeface="Arial"/>
              </a:rPr>
              <a:t>COLONOSCOPY AGES ALONG EACH</a:t>
            </a:r>
          </a:p>
          <a:p>
            <a:pPr algn="l">
              <a:lnSpc>
                <a:spcPts val="2527"/>
              </a:lnSpc>
              <a:spcBef>
                <a:spcPts val="0"/>
              </a:spcBef>
              <a:spcAft>
                <a:spcPts val="0"/>
              </a:spcAft>
            </a:pPr>
            <a:r>
              <a:rPr sz="1743" b="1" spc="87">
                <a:solidFill>
                  <a:srgbClr val="555555"/>
                </a:solidFill>
                <a:latin typeface="Arial"/>
              </a:rPr>
              <a:t>OBSERVATION PATH (λ = 0.001561)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6582321" y="31136481"/>
            <a:ext cx="4176469" cy="814466"/>
          </a:xfrm>
          <a:prstGeom prst="rect">
            <a:avLst/>
          </a:prstGeom>
          <a:noFill/>
        </p:spPr>
        <p:txBody>
          <a:bodyPr wrap="none" lIns="110701" tIns="30996" rIns="110701" bIns="30996">
            <a:spAutoFit/>
          </a:bodyPr>
          <a:lstStyle/>
          <a:p>
            <a:pPr algn="l">
              <a:lnSpc>
                <a:spcPts val="2527"/>
              </a:lnSpc>
              <a:spcBef>
                <a:spcPts val="0"/>
              </a:spcBef>
              <a:spcAft>
                <a:spcPts val="0"/>
              </a:spcAft>
            </a:pPr>
            <a:r>
              <a:rPr sz="1743" b="1" spc="87">
                <a:solidFill>
                  <a:srgbClr val="555555"/>
                </a:solidFill>
                <a:latin typeface="Arial"/>
              </a:rPr>
              <a:t>MEN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637146" y="31136481"/>
            <a:ext cx="4176622" cy="814466"/>
          </a:xfrm>
          <a:prstGeom prst="rect">
            <a:avLst/>
          </a:prstGeom>
          <a:noFill/>
        </p:spPr>
        <p:txBody>
          <a:bodyPr wrap="none" lIns="110701" tIns="30996" rIns="110701" bIns="30996">
            <a:spAutoFit/>
          </a:bodyPr>
          <a:lstStyle/>
          <a:p>
            <a:pPr algn="l">
              <a:lnSpc>
                <a:spcPts val="2527"/>
              </a:lnSpc>
              <a:spcBef>
                <a:spcPts val="0"/>
              </a:spcBef>
              <a:spcAft>
                <a:spcPts val="0"/>
              </a:spcAft>
            </a:pPr>
            <a:r>
              <a:rPr sz="1743" b="1" spc="87">
                <a:solidFill>
                  <a:srgbClr val="555555"/>
                </a:solidFill>
                <a:latin typeface="Arial"/>
              </a:rPr>
              <a:t>WOMEN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709729" y="31844713"/>
            <a:ext cx="6048769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all normal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6582321" y="31844713"/>
            <a:ext cx="4176469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49, 69, 78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10637146" y="31844713"/>
            <a:ext cx="4176622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58, 73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09729" y="32364432"/>
            <a:ext cx="6048769" cy="597673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1–2 adenomas, then normal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582321" y="32364432"/>
            <a:ext cx="4176469" cy="597673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49, 58, 67, 75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637146" y="32364432"/>
            <a:ext cx="4176622" cy="597673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58, 63, 73, 80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09729" y="32884148"/>
            <a:ext cx="6048769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≥3 adenomas, then normal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582321" y="32884148"/>
            <a:ext cx="4176469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49, 50, 57, 64, 75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10637146" y="32884148"/>
            <a:ext cx="4176622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58, 59, 63, 69, 74, 79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5574443" y="32898431"/>
            <a:ext cx="6211679" cy="469004"/>
          </a:xfrm>
          <a:prstGeom prst="rect">
            <a:avLst/>
          </a:prstGeom>
          <a:noFill/>
        </p:spPr>
        <p:txBody>
          <a:bodyPr wrap="square" lIns="106700" tIns="46947" rIns="106700" bIns="46947">
            <a:sp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spcAft>
                <a:spcPts val="0"/>
              </a:spcAft>
            </a:pPr>
            <a:r>
              <a:rPr sz="1680" b="1" spc="84">
                <a:solidFill>
                  <a:srgbClr val="555555"/>
                </a:solidFill>
                <a:latin typeface="Arial"/>
              </a:rPr>
              <a:t>CRC DEATHS / 100,000 (IN-MODEL)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21605200" y="32898431"/>
            <a:ext cx="2159649" cy="469004"/>
          </a:xfrm>
          <a:prstGeom prst="rect">
            <a:avLst/>
          </a:prstGeom>
          <a:noFill/>
        </p:spPr>
        <p:txBody>
          <a:bodyPr wrap="square" lIns="106700" tIns="46947" rIns="106700" bIns="46947">
            <a:sp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spcAft>
                <a:spcPts val="0"/>
              </a:spcAft>
            </a:pPr>
            <a:r>
              <a:rPr sz="1680" b="1" spc="84">
                <a:solidFill>
                  <a:srgbClr val="555555"/>
                </a:solidFill>
                <a:latin typeface="Arial"/>
              </a:rPr>
              <a:t>NO SCORE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23701947" y="32898431"/>
            <a:ext cx="3428591" cy="469004"/>
          </a:xfrm>
          <a:prstGeom prst="rect">
            <a:avLst/>
          </a:prstGeom>
          <a:noFill/>
        </p:spPr>
        <p:txBody>
          <a:bodyPr wrap="square" lIns="106700" tIns="46947" rIns="106700" bIns="46947">
            <a:sp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spcAft>
                <a:spcPts val="0"/>
              </a:spcAft>
            </a:pPr>
            <a:r>
              <a:rPr sz="1680" b="1" spc="84">
                <a:solidFill>
                  <a:srgbClr val="555555"/>
                </a:solidFill>
                <a:latin typeface="Arial"/>
              </a:rPr>
              <a:t>SCORE (AUC 0.60)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7030677" y="32898431"/>
            <a:ext cx="2601942" cy="469004"/>
          </a:xfrm>
          <a:prstGeom prst="rect">
            <a:avLst/>
          </a:prstGeom>
          <a:noFill/>
        </p:spPr>
        <p:txBody>
          <a:bodyPr wrap="square" lIns="106700" tIns="46947" rIns="106700" bIns="46947">
            <a:sp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spcAft>
                <a:spcPts val="0"/>
              </a:spcAft>
            </a:pPr>
            <a:r>
              <a:rPr sz="1680" b="1" spc="84">
                <a:solidFill>
                  <a:srgbClr val="555555"/>
                </a:solidFill>
                <a:latin typeface="Arial"/>
              </a:rPr>
              <a:t>SCORE BUYS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5574443" y="33306261"/>
            <a:ext cx="6211679" cy="628647"/>
          </a:xfrm>
          <a:prstGeom prst="rect">
            <a:avLst/>
          </a:prstGeom>
          <a:noFill/>
        </p:spPr>
        <p:txBody>
          <a:bodyPr wrap="squar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Best fixed schedule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1605200" y="33306261"/>
            <a:ext cx="2159649" cy="628647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972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3701947" y="33306261"/>
            <a:ext cx="3428591" cy="628647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942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7030677" y="33306261"/>
            <a:ext cx="2601942" cy="628647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−30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09729" y="33403867"/>
            <a:ext cx="6048769" cy="597674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advanced adenoma, then normal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6582321" y="33403867"/>
            <a:ext cx="4176469" cy="597674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49, 52, 64, 75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0637146" y="33403867"/>
            <a:ext cx="4176622" cy="597674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58, 63, 73, 80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5574443" y="33852911"/>
            <a:ext cx="6211679" cy="628646"/>
          </a:xfrm>
          <a:prstGeom prst="rect">
            <a:avLst/>
          </a:prstGeom>
          <a:noFill/>
        </p:spPr>
        <p:txBody>
          <a:bodyPr wrap="squar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1">
                <a:solidFill>
                  <a:srgbClr val="1C1C1C"/>
                </a:solidFill>
                <a:latin typeface="Arial"/>
              </a:rPr>
              <a:t>Adaptive policy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1605200" y="33852911"/>
            <a:ext cx="2159649" cy="628646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1">
                <a:solidFill>
                  <a:srgbClr val="1C1C1C"/>
                </a:solidFill>
                <a:latin typeface="Arial"/>
              </a:rPr>
              <a:t>892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3701947" y="33852911"/>
            <a:ext cx="3428591" cy="628646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1">
                <a:solidFill>
                  <a:srgbClr val="1C1C1C"/>
                </a:solidFill>
                <a:latin typeface="Arial"/>
              </a:rPr>
              <a:t>867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27030677" y="33852911"/>
            <a:ext cx="2601942" cy="628646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1">
                <a:solidFill>
                  <a:srgbClr val="1C1C1C"/>
                </a:solidFill>
                <a:latin typeface="Arial"/>
              </a:rPr>
              <a:t>−24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9729" y="33923584"/>
            <a:ext cx="6048769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advanced adenoma twice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6582321" y="33923584"/>
            <a:ext cx="4176469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49, 52, 53, 61, 67, 75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637146" y="33923584"/>
            <a:ext cx="4176622" cy="597676"/>
          </a:xfrm>
          <a:prstGeom prst="rect">
            <a:avLst/>
          </a:prstGeom>
          <a:noFill/>
        </p:spPr>
        <p:txBody>
          <a:bodyPr wrap="square" lIns="147601" tIns="41328" rIns="147601" bIns="41328">
            <a:spAutoFit/>
          </a:bodyPr>
          <a:lstStyle/>
          <a:p>
            <a:pPr algn="l">
              <a:lnSpc>
                <a:spcPts val="3370"/>
              </a:lnSpc>
              <a:spcBef>
                <a:spcPts val="0"/>
              </a:spcBef>
              <a:spcAft>
                <a:spcPts val="0"/>
              </a:spcAft>
            </a:pPr>
            <a:r>
              <a:rPr sz="2324" b="0">
                <a:solidFill>
                  <a:srgbClr val="1C1C1C"/>
                </a:solidFill>
                <a:latin typeface="Arial"/>
              </a:rPr>
              <a:t>58, 63, 67, 71, 76, 80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5574443" y="34399560"/>
            <a:ext cx="6211679" cy="628643"/>
          </a:xfrm>
          <a:prstGeom prst="rect">
            <a:avLst/>
          </a:prstGeom>
          <a:noFill/>
        </p:spPr>
        <p:txBody>
          <a:bodyPr wrap="squar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Adaptivity buys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1605200" y="34399560"/>
            <a:ext cx="2159649" cy="628643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−80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23701947" y="34399560"/>
            <a:ext cx="3428591" cy="628643"/>
          </a:xfrm>
          <a:prstGeom prst="rect">
            <a:avLst/>
          </a:prstGeom>
          <a:noFill/>
        </p:spPr>
        <p:txBody>
          <a:bodyPr wrap="none" lIns="142266" tIns="62596" rIns="142266" bIns="62596">
            <a:spAutoFit/>
          </a:bodyPr>
          <a:lstStyle/>
          <a:p>
            <a:pPr algn="l">
              <a:lnSpc>
                <a:spcPts val="3248"/>
              </a:lnSpc>
              <a:spcBef>
                <a:spcPts val="0"/>
              </a:spcBef>
              <a:spcAft>
                <a:spcPts val="0"/>
              </a:spcAft>
            </a:pPr>
            <a:r>
              <a:rPr sz="2240" b="0">
                <a:solidFill>
                  <a:srgbClr val="1C1C1C"/>
                </a:solidFill>
                <a:latin typeface="Arial"/>
              </a:rPr>
              <a:t>−74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1004</Words>
  <Application>Microsoft Office PowerPoint</Application>
  <PresentationFormat>사용자 지정</PresentationFormat>
  <Paragraphs>154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이성순 이</cp:lastModifiedBy>
  <cp:revision>2</cp:revision>
  <dcterms:created xsi:type="dcterms:W3CDTF">2013-01-27T09:14:16Z</dcterms:created>
  <dcterms:modified xsi:type="dcterms:W3CDTF">2026-10-16T12:57:42Z</dcterms:modified>
  <cp:category/>
</cp:coreProperties>
</file>