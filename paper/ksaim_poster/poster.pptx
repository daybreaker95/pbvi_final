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0927" y="418988"/>
            <a:ext cx="29424707" cy="6652626"/>
          </a:xfrm>
          <a:prstGeom prst="roundRect">
            <a:avLst>
              <a:gd name="adj" fmla="val 8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927" y="12165831"/>
            <a:ext cx="29424707" cy="7389129"/>
          </a:xfrm>
          <a:prstGeom prst="roundRect">
            <a:avLst>
              <a:gd name="adj" fmla="val 773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0927" y="37723808"/>
            <a:ext cx="29424707" cy="4651123"/>
          </a:xfrm>
          <a:prstGeom prst="roundRect">
            <a:avLst>
              <a:gd name="adj" fmla="val 1228"/>
            </a:avLst>
          </a:prstGeom>
          <a:solidFill>
            <a:srgbClr val="E9F2F3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0927" y="37723808"/>
            <a:ext cx="57161" cy="4651123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0927" y="7300153"/>
            <a:ext cx="14559993" cy="4637139"/>
          </a:xfrm>
          <a:prstGeom prst="roundRect">
            <a:avLst>
              <a:gd name="adj" fmla="val 1232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285642" y="7300153"/>
            <a:ext cx="14559993" cy="4637139"/>
          </a:xfrm>
          <a:prstGeom prst="roundRect">
            <a:avLst>
              <a:gd name="adj" fmla="val 1232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9729" y="12302270"/>
            <a:ext cx="2011640" cy="7116251"/>
          </a:xfrm>
          <a:prstGeom prst="roundRect">
            <a:avLst>
              <a:gd name="adj" fmla="val 3788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0927" y="19783499"/>
            <a:ext cx="12349271" cy="9865266"/>
          </a:xfrm>
          <a:prstGeom prst="roundRect">
            <a:avLst>
              <a:gd name="adj" fmla="val 579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3074920" y="19783499"/>
            <a:ext cx="8232998" cy="9865266"/>
          </a:xfrm>
          <a:prstGeom prst="roundRect">
            <a:avLst>
              <a:gd name="adj" fmla="val 694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612638" y="19783499"/>
            <a:ext cx="8232997" cy="9865266"/>
          </a:xfrm>
          <a:prstGeom prst="roundRect">
            <a:avLst>
              <a:gd name="adj" fmla="val 694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927" y="29877303"/>
            <a:ext cx="14559993" cy="7617966"/>
          </a:xfrm>
          <a:prstGeom prst="roundRect">
            <a:avLst>
              <a:gd name="adj" fmla="val 750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285642" y="29877303"/>
            <a:ext cx="14559993" cy="7617966"/>
          </a:xfrm>
          <a:prstGeom prst="roundRect">
            <a:avLst>
              <a:gd name="adj" fmla="val 750"/>
            </a:avLst>
          </a:prstGeom>
          <a:solidFill>
            <a:srgbClr val="FAFAF7"/>
          </a:solidFill>
          <a:ln w="9526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7341" y="38012606"/>
            <a:ext cx="28799495" cy="104747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7341" y="39041024"/>
            <a:ext cx="28799495" cy="19054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7341" y="39402885"/>
            <a:ext cx="28799495" cy="1137040"/>
          </a:xfrm>
          <a:prstGeom prst="roundRect">
            <a:avLst>
              <a:gd name="adj" fmla="val 12511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niversity-of-uls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9402" y="2979657"/>
            <a:ext cx="2289134" cy="1904449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09729" y="7588951"/>
            <a:ext cx="13982390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9729" y="8617368"/>
            <a:ext cx="13982390" cy="19053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574443" y="7588951"/>
            <a:ext cx="13982392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574443" y="8617368"/>
            <a:ext cx="13982392" cy="19053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09729" y="8979230"/>
            <a:ext cx="13982390" cy="115132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09729" y="8979230"/>
            <a:ext cx="85741" cy="1151325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09729" y="20072297"/>
            <a:ext cx="11771669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729" y="21100713"/>
            <a:ext cx="11771669" cy="19054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363722" y="20072297"/>
            <a:ext cx="7655394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3363722" y="21100713"/>
            <a:ext cx="7655394" cy="19054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01440" y="20072297"/>
            <a:ext cx="7655395" cy="104747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1901440" y="21100713"/>
            <a:ext cx="7655395" cy="19054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901440" y="21462576"/>
            <a:ext cx="7655395" cy="7835494"/>
          </a:xfrm>
          <a:prstGeom prst="roundRect">
            <a:avLst>
              <a:gd name="adj" fmla="val 995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9526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9729" y="30166102"/>
            <a:ext cx="13982390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9729" y="31194518"/>
            <a:ext cx="13982390" cy="19053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574443" y="30166102"/>
            <a:ext cx="13982392" cy="104746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574443" y="31194518"/>
            <a:ext cx="13982392" cy="19053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9729" y="36076422"/>
            <a:ext cx="13982390" cy="10723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9729" y="36076422"/>
            <a:ext cx="13982390" cy="12384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64273" y="4960307"/>
            <a:ext cx="1421987" cy="1421970"/>
          </a:xfrm>
          <a:prstGeom prst="roundRect">
            <a:avLst>
              <a:gd name="adj" fmla="val 8039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8595" y="5074627"/>
            <a:ext cx="1193343" cy="119333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3076828" y="12302270"/>
            <a:ext cx="16107855" cy="6711398"/>
          </a:xfrm>
          <a:prstGeom prst="roundRect">
            <a:avLst>
              <a:gd name="adj" fmla="val 567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omdp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991" y="12302270"/>
            <a:ext cx="16107530" cy="6711398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13363722" y="21640230"/>
            <a:ext cx="7655394" cy="3062065"/>
          </a:xfrm>
          <a:prstGeom prst="roundRect">
            <a:avLst>
              <a:gd name="adj" fmla="val 1244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dp_adherence_c6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63796" y="21640230"/>
            <a:ext cx="7655246" cy="3062065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911488" y="24106100"/>
            <a:ext cx="11368150" cy="4753789"/>
          </a:xfrm>
          <a:prstGeom prst="roundRect">
            <a:avLst>
              <a:gd name="adj" fmla="val 801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p_frontier_c6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24" y="24106100"/>
            <a:ext cx="11367878" cy="4753789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22164799" y="24552017"/>
            <a:ext cx="7128677" cy="45588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164799" y="24552017"/>
            <a:ext cx="7128677" cy="12385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9729" y="22755546"/>
            <a:ext cx="11771669" cy="389381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5574443" y="34272811"/>
            <a:ext cx="13982392" cy="546647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9489406" y="12302270"/>
            <a:ext cx="480062" cy="480055"/>
          </a:xfrm>
          <a:prstGeom prst="roundRect">
            <a:avLst>
              <a:gd name="adj" fmla="val 49612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2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9489406" y="14646878"/>
            <a:ext cx="480062" cy="480056"/>
          </a:xfrm>
          <a:prstGeom prst="roundRect">
            <a:avLst>
              <a:gd name="adj" fmla="val 49612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2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9489406" y="16493937"/>
            <a:ext cx="480062" cy="480056"/>
          </a:xfrm>
          <a:prstGeom prst="roundRect">
            <a:avLst>
              <a:gd name="adj" fmla="val 49612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2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9729" y="21462576"/>
            <a:ext cx="3672286" cy="51421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9729" y="21967261"/>
            <a:ext cx="367228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82014" y="21462576"/>
            <a:ext cx="2373349" cy="51421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2014" y="21967261"/>
            <a:ext cx="23733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55363" y="21462576"/>
            <a:ext cx="1700075" cy="51421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755363" y="21967261"/>
            <a:ext cx="170007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55438" y="21462576"/>
            <a:ext cx="4025960" cy="514212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55438" y="21967261"/>
            <a:ext cx="4025960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09729" y="21976788"/>
            <a:ext cx="3672286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9729" y="22356642"/>
            <a:ext cx="3672286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382014" y="21976788"/>
            <a:ext cx="2373349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82014" y="22356642"/>
            <a:ext cx="2373349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755363" y="21976788"/>
            <a:ext cx="1700075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755363" y="22356642"/>
            <a:ext cx="1700075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55438" y="21976788"/>
            <a:ext cx="4025960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455438" y="22356642"/>
            <a:ext cx="4025960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09729" y="22366168"/>
            <a:ext cx="3672286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09729" y="22746020"/>
            <a:ext cx="3672286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382014" y="22366168"/>
            <a:ext cx="2373349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382014" y="22746020"/>
            <a:ext cx="2373349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55363" y="22366168"/>
            <a:ext cx="1700075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55363" y="22746020"/>
            <a:ext cx="1700075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455438" y="22366168"/>
            <a:ext cx="4025960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455438" y="22746020"/>
            <a:ext cx="4025960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9729" y="22755546"/>
            <a:ext cx="3672286" cy="389381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9729" y="23135400"/>
            <a:ext cx="367228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82014" y="22755546"/>
            <a:ext cx="2373349" cy="389381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382014" y="23135400"/>
            <a:ext cx="23733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55363" y="22755546"/>
            <a:ext cx="1700075" cy="389381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755363" y="23135400"/>
            <a:ext cx="170007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455438" y="22755546"/>
            <a:ext cx="4025960" cy="389381"/>
          </a:xfrm>
          <a:prstGeom prst="rect">
            <a:avLst/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455438" y="23135400"/>
            <a:ext cx="4025960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9729" y="23144927"/>
            <a:ext cx="3672286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09729" y="23524778"/>
            <a:ext cx="3672286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82014" y="23144927"/>
            <a:ext cx="2373349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382014" y="23524778"/>
            <a:ext cx="2373349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55363" y="23144927"/>
            <a:ext cx="1700075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755363" y="23524778"/>
            <a:ext cx="1700075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55438" y="23144927"/>
            <a:ext cx="4025960" cy="38937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455438" y="23524778"/>
            <a:ext cx="4025960" cy="12385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09729" y="23534305"/>
            <a:ext cx="3672286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09729" y="23914159"/>
            <a:ext cx="3672286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382014" y="23534305"/>
            <a:ext cx="2373349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382014" y="23914159"/>
            <a:ext cx="2373349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755363" y="23534305"/>
            <a:ext cx="1700075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755363" y="23914159"/>
            <a:ext cx="1700075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455438" y="23534305"/>
            <a:ext cx="4025960" cy="3893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455438" y="23914159"/>
            <a:ext cx="4025960" cy="12384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09729" y="31556381"/>
            <a:ext cx="5872592" cy="708232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09729" y="32255086"/>
            <a:ext cx="5872592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582321" y="31556381"/>
            <a:ext cx="4054825" cy="708232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582321" y="32255086"/>
            <a:ext cx="4054825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637146" y="31556381"/>
            <a:ext cx="4054973" cy="708232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637146" y="32255086"/>
            <a:ext cx="4054973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09729" y="32264613"/>
            <a:ext cx="5872592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709729" y="32774805"/>
            <a:ext cx="5872592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582321" y="32264613"/>
            <a:ext cx="4054825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582321" y="32774805"/>
            <a:ext cx="4054825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637146" y="32264613"/>
            <a:ext cx="4054973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0637146" y="32774805"/>
            <a:ext cx="4054973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09729" y="32784332"/>
            <a:ext cx="5872592" cy="5197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09729" y="33294522"/>
            <a:ext cx="5872592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582321" y="32784332"/>
            <a:ext cx="4054825" cy="5197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582321" y="33294522"/>
            <a:ext cx="4054825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637146" y="32784332"/>
            <a:ext cx="4054973" cy="51971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10637146" y="33294522"/>
            <a:ext cx="4054973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9729" y="33304048"/>
            <a:ext cx="5872592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09729" y="33814241"/>
            <a:ext cx="5872592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582321" y="33304048"/>
            <a:ext cx="4054825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582321" y="33814241"/>
            <a:ext cx="4054825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637146" y="33304048"/>
            <a:ext cx="4054973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637146" y="33814241"/>
            <a:ext cx="4054973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5574443" y="33318331"/>
            <a:ext cx="6030757" cy="407830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5574443" y="33716634"/>
            <a:ext cx="6030757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1605200" y="33318331"/>
            <a:ext cx="2096747" cy="407830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21605200" y="33716634"/>
            <a:ext cx="2096747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3701947" y="33318331"/>
            <a:ext cx="3328730" cy="407830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3701947" y="33716634"/>
            <a:ext cx="3328730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7030677" y="33318331"/>
            <a:ext cx="2526158" cy="407830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27030677" y="33716634"/>
            <a:ext cx="2526158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5574443" y="33726161"/>
            <a:ext cx="6030757" cy="546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5574443" y="34263284"/>
            <a:ext cx="6030757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1605200" y="33726161"/>
            <a:ext cx="2096747" cy="546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1605200" y="34263284"/>
            <a:ext cx="2096747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3701947" y="33726161"/>
            <a:ext cx="3328730" cy="546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3701947" y="34263284"/>
            <a:ext cx="3328730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27030677" y="33726161"/>
            <a:ext cx="2526158" cy="5466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27030677" y="34263284"/>
            <a:ext cx="2526158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09729" y="33823767"/>
            <a:ext cx="5872592" cy="5197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09729" y="34333957"/>
            <a:ext cx="5872592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582321" y="33823767"/>
            <a:ext cx="4054825" cy="5197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582321" y="34333957"/>
            <a:ext cx="4054825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637146" y="33823767"/>
            <a:ext cx="4054973" cy="51971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10637146" y="34333957"/>
            <a:ext cx="4054973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5574443" y="34272811"/>
            <a:ext cx="6030757" cy="5466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5574443" y="34809932"/>
            <a:ext cx="6030757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1605200" y="34272811"/>
            <a:ext cx="2096747" cy="5466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1605200" y="34809932"/>
            <a:ext cx="2096747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3701947" y="34272811"/>
            <a:ext cx="3328730" cy="5466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3701947" y="34809932"/>
            <a:ext cx="3328730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7030677" y="34272811"/>
            <a:ext cx="2526158" cy="54664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7030677" y="34809932"/>
            <a:ext cx="2526158" cy="12384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09729" y="34343484"/>
            <a:ext cx="5872592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709729" y="34853676"/>
            <a:ext cx="5872592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582321" y="34343484"/>
            <a:ext cx="4054825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82321" y="34853676"/>
            <a:ext cx="4054825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637146" y="34343484"/>
            <a:ext cx="4054973" cy="5197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637146" y="34853676"/>
            <a:ext cx="4054973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5574443" y="34819458"/>
            <a:ext cx="6030757" cy="546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5574443" y="35356579"/>
            <a:ext cx="6030757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1605200" y="34819458"/>
            <a:ext cx="2096747" cy="546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1605200" y="35356579"/>
            <a:ext cx="2096747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3701947" y="34819458"/>
            <a:ext cx="3328730" cy="546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3701947" y="35356579"/>
            <a:ext cx="3328730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7030677" y="34819458"/>
            <a:ext cx="2526158" cy="5466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7030677" y="35356579"/>
            <a:ext cx="2526158" cy="12385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1131846" y="596641"/>
            <a:ext cx="28460157" cy="25506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825"/>
              </a:lnSpc>
              <a:spcBef>
                <a:spcPts val="0"/>
              </a:spcBef>
              <a:spcAft>
                <a:spcPts val="0"/>
              </a:spcAft>
            </a:pPr>
            <a:r>
              <a:rPr sz="5200" b="1" spc="-52">
                <a:solidFill>
                  <a:srgbClr val="1B2331"/>
                </a:solidFill>
                <a:latin typeface="Arial"/>
              </a:rPr>
              <a:t>Adaptive Colonoscopy Screening From a Mixed-Observability Markov Decision</a:t>
            </a:r>
          </a:p>
          <a:p>
            <a:pPr algn="ctr">
              <a:lnSpc>
                <a:spcPts val="5825"/>
              </a:lnSpc>
              <a:spcBef>
                <a:spcPts val="0"/>
              </a:spcBef>
              <a:spcAft>
                <a:spcPts val="0"/>
              </a:spcAft>
            </a:pPr>
            <a:r>
              <a:rPr sz="5200" b="1" spc="-52">
                <a:solidFill>
                  <a:srgbClr val="1B2331"/>
                </a:solidFill>
                <a:latin typeface="Arial"/>
              </a:rPr>
              <a:t>Process Built on the CMOST Microsimulation: More Cancers and Deaths</a:t>
            </a:r>
          </a:p>
          <a:p>
            <a:pPr algn="ctr">
              <a:lnSpc>
                <a:spcPts val="5825"/>
              </a:lnSpc>
              <a:spcBef>
                <a:spcPts val="0"/>
              </a:spcBef>
              <a:spcAft>
                <a:spcPts val="0"/>
              </a:spcAft>
            </a:pPr>
            <a:r>
              <a:rPr sz="5200" b="1" spc="-52">
                <a:solidFill>
                  <a:srgbClr val="1B2331"/>
                </a:solidFill>
                <a:latin typeface="Arial"/>
              </a:rPr>
              <a:t>Prevented per Colonoscopy Than Any Fixed Schedule</a:t>
            </a:r>
          </a:p>
        </p:txBody>
      </p:sp>
      <p:sp>
        <p:nvSpPr>
          <p:cNvPr id="169" name="TextBox 168"/>
          <p:cNvSpPr txBox="1"/>
          <p:nvPr/>
        </p:nvSpPr>
        <p:spPr>
          <a:xfrm rot="16200000">
            <a:off x="-2346121" y="15358120"/>
            <a:ext cx="8183688" cy="2071989"/>
          </a:xfrm>
          <a:prstGeom prst="rect">
            <a:avLst/>
          </a:prstGeom>
          <a:noFill/>
        </p:spPr>
        <p:txBody>
          <a:bodyPr wrap="none" lIns="177833" rIns="177833" tIns="101618" bIns="101618" anchor="ctr">
            <a:spAutoFit/>
          </a:bodyPr>
          <a:lstStyle/>
          <a:p>
            <a:pPr algn="ctr">
              <a:lnSpc>
                <a:spcPts val="7041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512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57341" y="38012606"/>
            <a:ext cx="29256781" cy="1204592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57341" y="39402885"/>
            <a:ext cx="29256781" cy="1307596"/>
          </a:xfrm>
          <a:prstGeom prst="rect">
            <a:avLst/>
          </a:prstGeom>
          <a:noFill/>
        </p:spPr>
        <p:txBody>
          <a:bodyPr wrap="none" lIns="248966" rIns="248966" tIns="106698" bIns="106698">
            <a:spAutoFit/>
          </a:bodyPr>
          <a:lstStyle/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Individualising colonoscopy timing on realised findings prevents more cancers and deaths per colonoscopy than any fixed schedule, including schedules optimised</a:t>
            </a:r>
          </a:p>
          <a:p>
            <a:pPr algn="l">
              <a:lnSpc>
                <a:spcPts val="364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for the same simulator, and the gain survives imperfect adherence.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7341" y="40539925"/>
            <a:ext cx="29256781" cy="17781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The solved policy is a legible three-tier surveillance rule with a sex offset: a 15–20-year interval after a clean first exam, 3–9 years after 1–2 or advanced adenomas, and re-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examination within 1–4 years after ≥3 adenomas. Limitations: all results are internal to CMOST and inherit its calibration, and non-attendance is modelled as random. Life-years did not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differ significantly between adaptive and fixed schedules, an honest null reported alongside the positive findings.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09729" y="7588951"/>
            <a:ext cx="14401861" cy="1204590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5574443" y="7588951"/>
            <a:ext cx="14401863" cy="1204590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09729" y="8979230"/>
            <a:ext cx="14401861" cy="1324023"/>
          </a:xfrm>
          <a:prstGeom prst="rect">
            <a:avLst/>
          </a:prstGeom>
          <a:noFill/>
        </p:spPr>
        <p:txBody>
          <a:bodyPr wrap="none" lIns="248966" rIns="248966" tIns="42679" bIns="42679">
            <a:spAutoFit/>
          </a:bodyPr>
          <a:lstStyle/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1C1C1C"/>
                </a:solidFill>
                <a:latin typeface="Arial"/>
              </a:rPr>
              <a:t>Can adapting each person's next interval to their own findings beat the best fixed</a:t>
            </a:r>
          </a:p>
          <a:p>
            <a:pPr algn="l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1C1C1C"/>
                </a:solidFill>
                <a:latin typeface="Arial"/>
              </a:rPr>
              <a:t>schedule at equal or lower colonoscopy volume?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09729" y="10130555"/>
            <a:ext cx="14401861" cy="1986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Colonoscopy prevents colorectal cancer (CRC) but is </a:t>
            </a:r>
            <a:r>
              <a:rPr sz="2800" b="1">
                <a:solidFill>
                  <a:srgbClr val="111111"/>
                </a:solidFill>
                <a:latin typeface="Arial"/>
              </a:rPr>
              <a:t>scarce and invasive</a:t>
            </a:r>
            <a:r>
              <a:rPr sz="2800" b="0">
                <a:solidFill>
                  <a:srgbClr val="1C1C1C"/>
                </a:solidFill>
                <a:latin typeface="Arial"/>
              </a:rPr>
              <a:t>: </a:t>
            </a:r>
            <a:r>
              <a:rPr sz="28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judge it by</a:t>
            </a:r>
          </a:p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what it prevents per exam.</a:t>
            </a:r>
            <a:r>
              <a:rPr sz="2800" b="0">
                <a:solidFill>
                  <a:srgbClr val="1C1C1C"/>
                </a:solidFill>
                <a:latin typeface="Arial"/>
              </a:rPr>
              <a:t> Optimised schedules (Zaika et al. 2024) are </a:t>
            </a:r>
            <a:r>
              <a:rPr sz="2800" b="1">
                <a:solidFill>
                  <a:srgbClr val="111111"/>
                </a:solidFill>
                <a:latin typeface="Arial"/>
              </a:rPr>
              <a:t>fixed</a:t>
            </a:r>
            <a:r>
              <a:rPr sz="2800" b="0">
                <a:solidFill>
                  <a:srgbClr val="1C1C1C"/>
                </a:solidFill>
                <a:latin typeface="Arial"/>
              </a:rPr>
              <a:t> and</a:t>
            </a:r>
          </a:p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ignore what a person's </a:t>
            </a:r>
            <a:r>
              <a:rPr sz="2800" b="1">
                <a:solidFill>
                  <a:srgbClr val="111111"/>
                </a:solidFill>
                <a:latin typeface="Arial"/>
              </a:rPr>
              <a:t>colonoscopies found</a:t>
            </a:r>
            <a:r>
              <a:rPr sz="2800" b="0">
                <a:solidFill>
                  <a:srgbClr val="1C1C1C"/>
                </a:solidFill>
                <a:latin typeface="Arial"/>
              </a:rPr>
              <a:t>, the one signal screening itself generates.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09729" y="20072297"/>
            <a:ext cx="12124819" cy="1204590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3363722" y="20072297"/>
            <a:ext cx="7885055" cy="1204590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Robustness 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1901440" y="20072297"/>
            <a:ext cx="7885056" cy="1204590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Key numbers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3363722" y="27595932"/>
            <a:ext cx="7885055" cy="177813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Model ablation.</a:t>
            </a:r>
            <a:r>
              <a:rPr sz="2800" b="0">
                <a:solidFill>
                  <a:srgbClr val="1C1C1C"/>
                </a:solidFill>
                <a:latin typeface="Arial"/>
              </a:rPr>
              <a:t> Policies from three simpler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models still beat 10-yearly screening by 121–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172 deaths per 100,000 (n = 200,000).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09729" y="30166102"/>
            <a:ext cx="14401861" cy="1204589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What the policy does 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5574443" y="30166102"/>
            <a:ext cx="14401863" cy="1204589"/>
          </a:xfrm>
          <a:prstGeom prst="rect">
            <a:avLst/>
          </a:prstGeom>
          <a:noFill/>
        </p:spPr>
        <p:txBody>
          <a:bodyPr wrap="square" lIns="0" rIns="228643" tIns="0" bIns="190533">
            <a:spAutoFit/>
          </a:bodyPr>
          <a:lstStyle/>
          <a:p>
            <a:pPr algn="l">
              <a:lnSpc>
                <a:spcPts val="6601"/>
              </a:lnSpc>
              <a:spcBef>
                <a:spcPts val="0"/>
              </a:spcBef>
              <a:spcAft>
                <a:spcPts val="0"/>
              </a:spcAft>
            </a:pPr>
            <a:r>
              <a:rPr sz="6001" b="1">
                <a:solidFill>
                  <a:srgbClr val="0F6070"/>
                </a:solidFill>
                <a:latin typeface="Arial"/>
              </a:rPr>
              <a:t>Risk information vs adaptivity 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5574443" y="31556381"/>
            <a:ext cx="14401863" cy="1821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If the risk class were </a:t>
            </a:r>
            <a:r>
              <a:rPr sz="2800" b="1">
                <a:solidFill>
                  <a:srgbClr val="111111"/>
                </a:solidFill>
                <a:latin typeface="Arial"/>
              </a:rPr>
              <a:t>observable at baseline</a:t>
            </a:r>
            <a:r>
              <a:rPr sz="2800" b="0">
                <a:solidFill>
                  <a:srgbClr val="1C1C1C"/>
                </a:solidFill>
                <a:latin typeface="Arial"/>
              </a:rPr>
              <a:t>, the policy would target it explicitly: </a:t>
            </a:r>
            <a:r>
              <a:rPr sz="28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6.34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deaths averted per 1,000 colonoscopies,</a:t>
            </a:r>
            <a:r>
              <a:rPr sz="2800" b="0">
                <a:solidFill>
                  <a:srgbClr val="1C1C1C"/>
                </a:solidFill>
                <a:latin typeface="Arial"/>
              </a:rPr>
              <a:t> none for the lowest-risk half and </a:t>
            </a:r>
            <a:r>
              <a:rPr sz="2968" b="1">
                <a:solidFill>
                  <a:srgbClr val="111111"/>
                </a:solidFill>
                <a:latin typeface="Arial"/>
              </a:rPr>
              <a:t>7.49</a:t>
            </a:r>
            <a:r>
              <a:rPr sz="2800" b="0">
                <a:solidFill>
                  <a:srgbClr val="1C1C1C"/>
                </a:solidFill>
                <a:latin typeface="Arial"/>
              </a:rPr>
              <a:t> for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the highest-risk 5% (mortality 5,535 under 10-yearly to 1,956 per 100,000).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709729" y="34867964"/>
            <a:ext cx="14401861" cy="1185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Graded, immediate response:</a:t>
            </a:r>
            <a:r>
              <a:rPr sz="2800" b="0">
                <a:solidFill>
                  <a:srgbClr val="1C1C1C"/>
                </a:solidFill>
                <a:latin typeface="Arial"/>
              </a:rPr>
              <a:t> 1–2 adenomas bring the next exam in 9 years (men) or</a:t>
            </a:r>
          </a:p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5 (women); an advanced adenoma in 3 or 5.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09729" y="36076422"/>
            <a:ext cx="14401861" cy="1233165"/>
          </a:xfrm>
          <a:prstGeom prst="rect">
            <a:avLst/>
          </a:prstGeom>
          <a:noFill/>
        </p:spPr>
        <p:txBody>
          <a:bodyPr wrap="square" lIns="0" rIns="0" tIns="147244" bIns="0">
            <a:spAutoFit/>
          </a:bodyPr>
          <a:lstStyle/>
          <a:p>
            <a:pPr algn="l">
              <a:lnSpc>
                <a:spcPts val="3607"/>
              </a:lnSpc>
              <a:spcBef>
                <a:spcPts val="0"/>
              </a:spcBef>
              <a:spcAft>
                <a:spcPts val="0"/>
              </a:spcAft>
            </a:pPr>
            <a:r>
              <a:rPr sz="2009" b="1" spc="120">
                <a:solidFill>
                  <a:srgbClr val="111111"/>
                </a:solidFill>
                <a:latin typeface="Arial"/>
              </a:rPr>
              <a:t>SO WHAT → </a:t>
            </a:r>
            <a:r>
              <a:rPr sz="2576" b="0" i="1">
                <a:solidFill>
                  <a:srgbClr val="1C1C1C"/>
                </a:solidFill>
                <a:latin typeface="Arial"/>
              </a:rPr>
              <a:t>A clean first exam earns 15–20 years; ≥3 adenomas pull the next exam to within 1–4 years (1 here); the sexes are offset by ~9 years (49 vs 58).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15574443" y="36458213"/>
            <a:ext cx="14401863" cy="5927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In the engine (n = 200,000) the two cannot be told apart (+6.5 ± 25.1 per 100,000).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845845" y="2979636"/>
            <a:ext cx="15012119" cy="6351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646A73"/>
                </a:solidFill>
                <a:latin typeface="Arial"/>
              </a:rPr>
              <a:t>Taehyung Lee</a:t>
            </a:r>
            <a:r>
              <a:rPr sz="4200" b="0" baseline="30000">
                <a:solidFill>
                  <a:srgbClr val="646A73"/>
                </a:solidFill>
                <a:latin typeface="Arial"/>
              </a:rPr>
              <a:t>1</a:t>
            </a:r>
            <a:r>
              <a:rPr sz="3000" b="0">
                <a:solidFill>
                  <a:srgbClr val="646A73"/>
                </a:solidFill>
                <a:latin typeface="Arial"/>
              </a:rPr>
              <a:t>, Inseo Choi</a:t>
            </a:r>
            <a:r>
              <a:rPr sz="4200" b="0" baseline="30000">
                <a:solidFill>
                  <a:srgbClr val="646A73"/>
                </a:solidFill>
                <a:latin typeface="Arial"/>
              </a:rPr>
              <a:t>2</a:t>
            </a:r>
            <a:r>
              <a:rPr sz="3000" b="0">
                <a:solidFill>
                  <a:srgbClr val="646A73"/>
                </a:solidFill>
                <a:latin typeface="Arial"/>
              </a:rPr>
              <a:t>, Jaehoon Shim</a:t>
            </a:r>
            <a:r>
              <a:rPr sz="4200" b="0" baseline="30000">
                <a:solidFill>
                  <a:srgbClr val="646A73"/>
                </a:solidFill>
                <a:latin typeface="Arial"/>
              </a:rPr>
              <a:t>3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845845" y="4009252"/>
            <a:ext cx="15012119" cy="5080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480"/>
              </a:lnSpc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646A73"/>
                </a:solidFill>
                <a:latin typeface="Arial"/>
              </a:rPr>
              <a:t>Email: daybreaker9502@gmail.com  ·  Phone: 010-8023-3200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12880304" y="5071303"/>
            <a:ext cx="2993503" cy="7884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401"/>
              </a:lnSpc>
              <a:spcBef>
                <a:spcPts val="0"/>
              </a:spcBef>
              <a:spcAft>
                <a:spcPts val="0"/>
              </a:spcAft>
            </a:pPr>
            <a:r>
              <a:rPr sz="5401" b="1" spc="-54">
                <a:solidFill>
                  <a:srgbClr val="1B2331"/>
                </a:solidFill>
                <a:latin typeface="Arial"/>
              </a:rPr>
              <a:t>KoSAIM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3881065" y="5810186"/>
            <a:ext cx="931782" cy="5927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spc="224">
                <a:solidFill>
                  <a:srgbClr val="1B2331"/>
                </a:solidFill>
                <a:latin typeface="Arial"/>
              </a:rPr>
              <a:t>2026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13674396" y="6439858"/>
            <a:ext cx="1357673" cy="4234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spc="360">
                <a:solidFill>
                  <a:srgbClr val="1B2331"/>
                </a:solidFill>
                <a:latin typeface="Arial"/>
              </a:rPr>
              <a:t>POSTER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16303663" y="6556211"/>
            <a:ext cx="765349" cy="4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86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spc="88">
                <a:solidFill>
                  <a:srgbClr val="1B2331"/>
                </a:solidFill>
                <a:latin typeface="Arial"/>
              </a:rPr>
              <a:t>Code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5574230" y="8979230"/>
            <a:ext cx="14402083" cy="18219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391234" indent="-391234">
              <a:lnSpc>
                <a:spcPts val="406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2800" b="1">
                <a:solidFill>
                  <a:srgbClr val="111111"/>
                </a:solidFill>
                <a:latin typeface="Arial"/>
              </a:rPr>
              <a:t>A colonoscopy is evidence.</a:t>
            </a:r>
            <a:r>
              <a:rPr sz="2800" b="0">
                <a:solidFill>
                  <a:srgbClr val="1C1C1C"/>
                </a:solidFill>
                <a:latin typeface="Arial"/>
              </a:rPr>
              <a:t> ≥3 adenomas lift the probability of the high-risk classes</a:t>
            </a:r>
          </a:p>
          <a:p>
            <a:pPr algn="l" marL="391234" indent="0">
              <a:lnSpc>
                <a:spcPts val="4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1C1C1C"/>
                </a:solidFill>
                <a:latin typeface="Arial"/>
              </a:rPr>
              <a:t>from </a:t>
            </a:r>
            <a:r>
              <a:rPr sz="2968" b="1">
                <a:solidFill>
                  <a:srgbClr val="111111"/>
                </a:solidFill>
                <a:latin typeface="Arial"/>
              </a:rPr>
              <a:t>0.05</a:t>
            </a:r>
            <a:r>
              <a:rPr sz="2800" b="0">
                <a:solidFill>
                  <a:srgbClr val="1C1C1C"/>
                </a:solidFill>
                <a:latin typeface="Arial"/>
              </a:rPr>
              <a:t> to </a:t>
            </a:r>
            <a:r>
              <a:rPr sz="2968" b="1">
                <a:solidFill>
                  <a:srgbClr val="111111"/>
                </a:solidFill>
                <a:latin typeface="Arial"/>
              </a:rPr>
              <a:t>0.93</a:t>
            </a:r>
            <a:r>
              <a:rPr sz="2800" b="0">
                <a:solidFill>
                  <a:srgbClr val="1C1C1C"/>
                </a:solidFill>
                <a:latin typeface="Arial"/>
              </a:rPr>
              <a:t> in men (0.98 in women); a normal exam lowers it to 0.007 in men</a:t>
            </a:r>
          </a:p>
          <a:p>
            <a:pPr algn="l" marL="391234" indent="0">
              <a:lnSpc>
                <a:spcPts val="40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0">
                <a:solidFill>
                  <a:srgbClr val="1C1C1C"/>
                </a:solidFill>
                <a:latin typeface="Arial"/>
              </a:rPr>
              <a:t>and 0.017 in women.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5574443" y="10767816"/>
            <a:ext cx="1458975" cy="955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546"/>
              </a:lnSpc>
              <a:spcBef>
                <a:spcPts val="0"/>
              </a:spcBef>
              <a:spcAft>
                <a:spcPts val="0"/>
              </a:spcAft>
            </a:pPr>
            <a:r>
              <a:rPr sz="5595" b="1">
                <a:solidFill>
                  <a:srgbClr val="0F6070"/>
                </a:solidFill>
                <a:latin typeface="Arial"/>
              </a:rPr>
              <a:t>23×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7102814" y="10767816"/>
            <a:ext cx="12827641" cy="106667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higher lifetime CRC incidence in the top 2% of latent risk than in the bottom half: a</a:t>
            </a:r>
          </a:p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gradient no fixed schedule can express, but one the policy infers from findings alone.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4906945" y="19075861"/>
            <a:ext cx="12820897" cy="3719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548"/>
              </a:lnSpc>
              <a:spcBef>
                <a:spcPts val="0"/>
              </a:spcBef>
              <a:spcAft>
                <a:spcPts val="0"/>
              </a:spcAft>
            </a:pPr>
            <a:r>
              <a:rPr sz="1960" b="0" i="1">
                <a:solidFill>
                  <a:srgbClr val="555555"/>
                </a:solidFill>
                <a:latin typeface="Arial"/>
              </a:rPr>
              <a:t>CMOST supplies the kernels; point-based value iteration solves the MOMDP; policies run back inside the engine.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3879158" y="21700637"/>
            <a:ext cx="3810957" cy="13869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9501"/>
              </a:lnSpc>
              <a:spcBef>
                <a:spcPts val="0"/>
              </a:spcBef>
              <a:spcAft>
                <a:spcPts val="0"/>
              </a:spcAft>
            </a:pPr>
            <a:r>
              <a:rPr sz="10001" b="1" spc="-200">
                <a:solidFill>
                  <a:srgbClr val="0F6070"/>
                </a:solidFill>
                <a:latin typeface="Arial"/>
              </a:rPr>
              <a:t>+30%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164799" y="22980217"/>
            <a:ext cx="7342537" cy="15420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C1C"/>
                </a:solidFill>
                <a:latin typeface="Arial"/>
              </a:rPr>
              <a:t>CRC deaths averted per 1,000</a:t>
            </a:r>
          </a:p>
          <a:p>
            <a:pPr algn="ctr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C1C"/>
                </a:solidFill>
                <a:latin typeface="Arial"/>
              </a:rPr>
              <a:t>colonoscopies vs 10-yearly</a:t>
            </a:r>
          </a:p>
          <a:p>
            <a:pPr algn="ctr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C1C1C"/>
                </a:solidFill>
                <a:latin typeface="Arial"/>
              </a:rPr>
              <a:t>screening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13669932" y="24804214"/>
            <a:ext cx="7254110" cy="8712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985"/>
              </a:lnSpc>
              <a:spcBef>
                <a:spcPts val="0"/>
              </a:spcBef>
              <a:spcAft>
                <a:spcPts val="0"/>
              </a:spcAft>
            </a:pPr>
            <a:r>
              <a:rPr sz="2296" b="0" i="1">
                <a:solidFill>
                  <a:srgbClr val="555555"/>
                </a:solidFill>
                <a:latin typeface="Arial"/>
              </a:rPr>
              <a:t>Mortality and colonoscopy use vs adherence; n =</a:t>
            </a:r>
          </a:p>
          <a:p>
            <a:pPr algn="ctr">
              <a:lnSpc>
                <a:spcPts val="2985"/>
              </a:lnSpc>
              <a:spcBef>
                <a:spcPts val="0"/>
              </a:spcBef>
              <a:spcAft>
                <a:spcPts val="0"/>
              </a:spcAft>
            </a:pPr>
            <a:r>
              <a:rPr sz="2296" b="0" i="1">
                <a:solidFill>
                  <a:srgbClr val="555555"/>
                </a:solidFill>
                <a:latin typeface="Arial"/>
              </a:rPr>
              <a:t>200,000.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13363722" y="25660938"/>
            <a:ext cx="1707552" cy="955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546"/>
              </a:lnSpc>
              <a:spcBef>
                <a:spcPts val="0"/>
              </a:spcBef>
              <a:spcAft>
                <a:spcPts val="0"/>
              </a:spcAft>
            </a:pPr>
            <a:r>
              <a:rPr sz="5595" b="1">
                <a:solidFill>
                  <a:srgbClr val="0F6070"/>
                </a:solidFill>
                <a:latin typeface="Arial"/>
              </a:rPr>
              <a:t>18%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15133430" y="25660938"/>
            <a:ext cx="6062256" cy="2133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mortality cut by fixed 10-yearly screening</a:t>
            </a:r>
          </a:p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(missed slot lost) at 30% attendance,</a:t>
            </a:r>
          </a:p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down from 46%; the adaptive policy, not</a:t>
            </a:r>
          </a:p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re-solved, holds 44–53%.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872671" y="28961808"/>
            <a:ext cx="9729004" cy="4356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2985"/>
              </a:lnSpc>
              <a:spcBef>
                <a:spcPts val="0"/>
              </a:spcBef>
              <a:spcAft>
                <a:spcPts val="0"/>
              </a:spcAft>
            </a:pPr>
            <a:r>
              <a:rPr sz="2296" b="0" i="1">
                <a:solidFill>
                  <a:srgbClr val="555555"/>
                </a:solidFill>
                <a:latin typeface="Arial"/>
              </a:rPr>
              <a:t>Efficiency frontiers in the engine: CRC deaths (left) and diagnoses (right).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15574443" y="35450767"/>
            <a:ext cx="971016" cy="9556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546"/>
              </a:lnSpc>
              <a:spcBef>
                <a:spcPts val="0"/>
              </a:spcBef>
              <a:spcAft>
                <a:spcPts val="0"/>
              </a:spcAft>
            </a:pPr>
            <a:r>
              <a:rPr sz="5595" b="1">
                <a:solidFill>
                  <a:srgbClr val="0F6070"/>
                </a:solidFill>
                <a:latin typeface="Arial"/>
              </a:rPr>
              <a:t>3×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16629068" y="35450767"/>
            <a:ext cx="13315600" cy="1066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more benefit from adaptivity than from a realistic baseline risk score; the two gains are</a:t>
            </a:r>
          </a:p>
          <a:p>
            <a:pPr algn="l">
              <a:lnSpc>
                <a:spcPts val="3654"/>
              </a:lnSpc>
              <a:spcBef>
                <a:spcPts val="0"/>
              </a:spcBef>
              <a:spcAft>
                <a:spcPts val="0"/>
              </a:spcAft>
            </a:pPr>
            <a:r>
              <a:rPr sz="2520" b="0">
                <a:solidFill>
                  <a:srgbClr val="555555"/>
                </a:solidFill>
                <a:latin typeface="Arial"/>
              </a:rPr>
              <a:t>nearly additive.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7845845" y="3576575"/>
            <a:ext cx="15012119" cy="4655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190"/>
              </a:lnSpc>
              <a:spcBef>
                <a:spcPts val="0"/>
              </a:spcBef>
              <a:spcAft>
                <a:spcPts val="0"/>
              </a:spcAft>
            </a:pPr>
            <a:r>
              <a:rPr sz="2002" b="0" spc="44" baseline="30000">
                <a:solidFill>
                  <a:srgbClr val="646A73"/>
                </a:solidFill>
                <a:latin typeface="Arial"/>
              </a:rPr>
              <a:t>1</a:t>
            </a:r>
            <a:r>
              <a:rPr sz="2200" b="0" spc="44">
                <a:solidFill>
                  <a:srgbClr val="646A73"/>
                </a:solidFill>
                <a:latin typeface="Arial"/>
              </a:rPr>
              <a:t> University of Ulsan College of Medicine    </a:t>
            </a:r>
            <a:r>
              <a:rPr sz="3080" b="0" spc="44" baseline="30000">
                <a:solidFill>
                  <a:srgbClr val="646A73"/>
                </a:solidFill>
                <a:latin typeface="Arial"/>
              </a:rPr>
              <a:t>2</a:t>
            </a:r>
            <a:r>
              <a:rPr sz="2200" b="0" spc="44">
                <a:solidFill>
                  <a:srgbClr val="646A73"/>
                </a:solidFill>
                <a:latin typeface="Arial"/>
              </a:rPr>
              <a:t> Chosun University College of Medicine    </a:t>
            </a:r>
            <a:r>
              <a:rPr sz="3080" b="0" spc="44" baseline="30000">
                <a:solidFill>
                  <a:srgbClr val="646A73"/>
                </a:solidFill>
                <a:latin typeface="Arial"/>
              </a:rPr>
              <a:t>3</a:t>
            </a:r>
            <a:r>
              <a:rPr sz="2200" b="0" spc="44">
                <a:solidFill>
                  <a:srgbClr val="646A73"/>
                </a:solidFill>
                <a:latin typeface="Arial"/>
              </a:rPr>
              <a:t> Seoul National University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20145523" y="12302270"/>
            <a:ext cx="9693651" cy="24511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State.</a:t>
            </a:r>
            <a:r>
              <a:rPr sz="2800" b="0">
                <a:solidFill>
                  <a:srgbClr val="1C1C1C"/>
                </a:solidFill>
                <a:latin typeface="Arial"/>
              </a:rPr>
              <a:t> Observed: age, sex, years since last colonoscopy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(τ), last finding (normal / 1–2 / ≥3 / advanced adenomas).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Hidden belief: </a:t>
            </a:r>
            <a:r>
              <a:rPr sz="2968" b="1">
                <a:solidFill>
                  <a:srgbClr val="111111"/>
                </a:solidFill>
                <a:latin typeface="Arial"/>
              </a:rPr>
              <a:t>6</a:t>
            </a:r>
            <a:r>
              <a:rPr sz="2800" b="0">
                <a:solidFill>
                  <a:srgbClr val="1C1C1C"/>
                </a:solidFill>
                <a:latin typeface="Arial"/>
              </a:rPr>
              <a:t> risk classes × </a:t>
            </a:r>
            <a:r>
              <a:rPr sz="2968" b="1">
                <a:solidFill>
                  <a:srgbClr val="111111"/>
                </a:solidFill>
                <a:latin typeface="Arial"/>
              </a:rPr>
              <a:t>11</a:t>
            </a:r>
            <a:r>
              <a:rPr sz="2800" b="0">
                <a:solidFill>
                  <a:srgbClr val="1C1C1C"/>
                </a:solidFill>
                <a:latin typeface="Arial"/>
              </a:rPr>
              <a:t> clinical states. WAIT or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SCREEN yearly, ages 40–80.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0145523" y="14646878"/>
            <a:ext cx="9693651" cy="1878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Kernels from the engine.</a:t>
            </a:r>
            <a:r>
              <a:rPr sz="2800" b="0">
                <a:solidFill>
                  <a:srgbClr val="1C1C1C"/>
                </a:solidFill>
                <a:latin typeface="Arial"/>
              </a:rPr>
              <a:t> Maximum-likelihood estimates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from 4,000,000 CMOST lives (</a:t>
            </a:r>
            <a:r>
              <a:rPr sz="2968" b="1">
                <a:solidFill>
                  <a:srgbClr val="111111"/>
                </a:solidFill>
                <a:latin typeface="Arial"/>
              </a:rPr>
              <a:t>4,520,648</a:t>
            </a:r>
            <a:r>
              <a:rPr sz="2800" b="0">
                <a:solidFill>
                  <a:srgbClr val="1C1C1C"/>
                </a:solidFill>
                <a:latin typeface="Arial"/>
              </a:rPr>
              <a:t> colonoscopies),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conditioned on (τ, last finding).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20145523" y="16493937"/>
            <a:ext cx="9693651" cy="30232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11111"/>
                </a:solidFill>
                <a:latin typeface="Arial"/>
              </a:rPr>
              <a:t>Solve, then deploy.</a:t>
            </a:r>
            <a:r>
              <a:rPr sz="2800" b="0">
                <a:solidFill>
                  <a:srgbClr val="1C1C1C"/>
                </a:solidFill>
                <a:latin typeface="Arial"/>
              </a:rPr>
              <a:t> Point-based value iteration; the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shadow price λ sweeps the frontier. Every policy is re-run inside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CMOST on its simulated findings against 10-yearly and 5-yearly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screening, the best of 2,112 fixed schedules and 10-yearly +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1C1C1C"/>
                </a:solidFill>
                <a:latin typeface="Arial"/>
              </a:rPr>
              <a:t>surveillance (headline arms: </a:t>
            </a:r>
            <a:r>
              <a:rPr sz="2968" b="1">
                <a:solidFill>
                  <a:srgbClr val="111111"/>
                </a:solidFill>
                <a:latin typeface="Arial"/>
              </a:rPr>
              <a:t>1,000,000</a:t>
            </a:r>
            <a:r>
              <a:rPr sz="2800" b="0">
                <a:solidFill>
                  <a:srgbClr val="1C1C1C"/>
                </a:solidFill>
                <a:latin typeface="Arial"/>
              </a:rPr>
              <a:t> persons).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709729" y="21462576"/>
            <a:ext cx="3782454" cy="591343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l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PROGRAMME (ENGINE, 1,000,000 PER</a:t>
            </a:r>
          </a:p>
          <a:p>
            <a:pPr algn="l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ARM)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382014" y="21462576"/>
            <a:ext cx="2444549" cy="591343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COLONOSCOPIES PER</a:t>
            </a:r>
          </a:p>
          <a:p>
            <a:pPr algn="ctr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PERSON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6755363" y="21462576"/>
            <a:ext cx="1751077" cy="591343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CRC DEATHS</a:t>
            </a:r>
          </a:p>
          <a:p>
            <a:pPr algn="ctr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PER 100,000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8455438" y="21462576"/>
            <a:ext cx="4146738" cy="591343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DEATHS AVERTED VS NO SCREENING PER</a:t>
            </a:r>
          </a:p>
          <a:p>
            <a:pPr algn="ctr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333" b="1" spc="66">
                <a:solidFill>
                  <a:srgbClr val="0F6070"/>
                </a:solidFill>
                <a:latin typeface="Arial"/>
              </a:rPr>
              <a:t>1,000 COLONOSCOPIES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09729" y="21976788"/>
            <a:ext cx="3782454" cy="447786"/>
          </a:xfrm>
          <a:prstGeom prst="rect">
            <a:avLst/>
          </a:prstGeom>
          <a:noFill/>
        </p:spPr>
        <p:txBody>
          <a:bodyPr wrap="square" lIns="57160" rIns="57160" tIns="9526" bIns="9526">
            <a:spAutoFit/>
          </a:bodyPr>
          <a:lstStyle/>
          <a:p>
            <a:pPr algn="l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1C1C1C"/>
                </a:solidFill>
                <a:latin typeface="Arial"/>
              </a:rPr>
              <a:t>Fixed 10-yearly (50/60/70)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382014" y="21976788"/>
            <a:ext cx="2444549" cy="447786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2.58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6755363" y="21976788"/>
            <a:ext cx="1751077" cy="447786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1032.1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8455438" y="21976788"/>
            <a:ext cx="4146738" cy="447786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3.32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09729" y="22366168"/>
            <a:ext cx="3782454" cy="447784"/>
          </a:xfrm>
          <a:prstGeom prst="rect">
            <a:avLst/>
          </a:prstGeom>
          <a:noFill/>
        </p:spPr>
        <p:txBody>
          <a:bodyPr wrap="square" lIns="57160" rIns="57160" tIns="9526" bIns="9526">
            <a:spAutoFit/>
          </a:bodyPr>
          <a:lstStyle/>
          <a:p>
            <a:pPr algn="l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1C1C1C"/>
                </a:solidFill>
                <a:latin typeface="Arial"/>
              </a:rPr>
              <a:t>Best fixed, no surveillance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4382014" y="22366168"/>
            <a:ext cx="2444549" cy="447784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2.44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6755363" y="22366168"/>
            <a:ext cx="1751077" cy="447784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980.9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8455438" y="22366168"/>
            <a:ext cx="4146738" cy="447784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3.71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09729" y="22755546"/>
            <a:ext cx="3782454" cy="447788"/>
          </a:xfrm>
          <a:prstGeom prst="rect">
            <a:avLst/>
          </a:prstGeom>
          <a:noFill/>
        </p:spPr>
        <p:txBody>
          <a:bodyPr wrap="square" lIns="57160" rIns="57160" tIns="9526" bIns="9526">
            <a:spAutoFit/>
          </a:bodyPr>
          <a:lstStyle/>
          <a:p>
            <a:pPr algn="l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0F6070"/>
                </a:solidFill>
                <a:latin typeface="Arial"/>
              </a:rPr>
              <a:t>Adaptive policy (ours)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382014" y="22755546"/>
            <a:ext cx="2444549" cy="447788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0F6070"/>
                </a:solidFill>
                <a:latin typeface="Arial"/>
              </a:rPr>
              <a:t>2.29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6755363" y="22755546"/>
            <a:ext cx="1751077" cy="447788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0F6070"/>
                </a:solidFill>
                <a:latin typeface="Arial"/>
              </a:rPr>
              <a:t>899.8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455438" y="22755546"/>
            <a:ext cx="4146738" cy="447788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0F6070"/>
                </a:solidFill>
                <a:latin typeface="Arial"/>
              </a:rPr>
              <a:t>4.32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09729" y="23144927"/>
            <a:ext cx="3782454" cy="447784"/>
          </a:xfrm>
          <a:prstGeom prst="rect">
            <a:avLst/>
          </a:prstGeom>
          <a:noFill/>
        </p:spPr>
        <p:txBody>
          <a:bodyPr wrap="square" lIns="57160" rIns="57160" tIns="9526" bIns="9526">
            <a:spAutoFit/>
          </a:bodyPr>
          <a:lstStyle/>
          <a:p>
            <a:pPr algn="l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1C1C1C"/>
                </a:solidFill>
                <a:latin typeface="Arial"/>
              </a:rPr>
              <a:t>10-yearly + surveillance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382014" y="23144927"/>
            <a:ext cx="2444549" cy="447784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2.95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6755363" y="23144927"/>
            <a:ext cx="1751077" cy="447784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879.8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8455438" y="23144927"/>
            <a:ext cx="4146738" cy="447784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3.42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09729" y="23534305"/>
            <a:ext cx="3782454" cy="447786"/>
          </a:xfrm>
          <a:prstGeom prst="rect">
            <a:avLst/>
          </a:prstGeom>
          <a:noFill/>
        </p:spPr>
        <p:txBody>
          <a:bodyPr wrap="square" lIns="57160" rIns="57160" tIns="9526" bIns="9526">
            <a:spAutoFit/>
          </a:bodyPr>
          <a:lstStyle/>
          <a:p>
            <a:pPr algn="l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1">
                <a:solidFill>
                  <a:srgbClr val="1C1C1C"/>
                </a:solidFill>
                <a:latin typeface="Arial"/>
              </a:rPr>
              <a:t>Adaptive, matched volume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382014" y="23534305"/>
            <a:ext cx="2444549" cy="447786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2.87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6755363" y="23534305"/>
            <a:ext cx="1751077" cy="447786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818.1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8455438" y="23534305"/>
            <a:ext cx="4146738" cy="447786"/>
          </a:xfrm>
          <a:prstGeom prst="rect">
            <a:avLst/>
          </a:prstGeom>
          <a:noFill/>
        </p:spPr>
        <p:txBody>
          <a:bodyPr wrap="none" lIns="57160" rIns="57160" tIns="9526" bIns="9526">
            <a:spAutoFit/>
          </a:bodyPr>
          <a:lstStyle/>
          <a:p>
            <a:pPr algn="ctr">
              <a:lnSpc>
                <a:spcPts val="2842"/>
              </a:lnSpc>
              <a:spcBef>
                <a:spcPts val="0"/>
              </a:spcBef>
              <a:spcAft>
                <a:spcPts val="0"/>
              </a:spcAft>
            </a:pPr>
            <a:r>
              <a:rPr sz="1960" b="0">
                <a:solidFill>
                  <a:srgbClr val="1C1C1C"/>
                </a:solidFill>
                <a:latin typeface="Arial"/>
              </a:rPr>
              <a:t>3.72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3285931" y="24774755"/>
            <a:ext cx="1215301" cy="613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42">
                <a:solidFill>
                  <a:srgbClr val="AE2622"/>
                </a:solidFill>
                <a:latin typeface="Arial"/>
              </a:rPr>
              <a:t>−132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26992440" y="24774755"/>
            <a:ext cx="1215301" cy="613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42">
                <a:solidFill>
                  <a:srgbClr val="AE2622"/>
                </a:solidFill>
                <a:latin typeface="Arial"/>
              </a:rPr>
              <a:t>−201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22164799" y="25378984"/>
            <a:ext cx="3524835" cy="7357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CRC deaths per 100,000 vs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10-yearly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5871306" y="25378984"/>
            <a:ext cx="3524835" cy="7357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CRC diagnoses per 100,000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vs 10-yearly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3211833" y="26160866"/>
            <a:ext cx="1367943" cy="613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42">
                <a:solidFill>
                  <a:srgbClr val="AE2622"/>
                </a:solidFill>
                <a:latin typeface="Arial"/>
              </a:rPr>
              <a:t>−11%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26619869" y="26160866"/>
            <a:ext cx="1982794" cy="613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42">
                <a:solidFill>
                  <a:srgbClr val="AE2622"/>
                </a:solidFill>
                <a:latin typeface="Arial"/>
              </a:rPr>
              <a:t>44–53%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22164799" y="26765097"/>
            <a:ext cx="3524835" cy="735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colonoscopies per person vs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10-yearly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25871306" y="26765097"/>
            <a:ext cx="3524835" cy="735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mortality cut at attendance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0.3–1.0 (n = 200,000)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23431596" y="27546979"/>
            <a:ext cx="915231" cy="613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42">
                <a:solidFill>
                  <a:srgbClr val="AE2622"/>
                </a:solidFill>
                <a:latin typeface="Arial"/>
              </a:rPr>
              <a:t>−81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26903612" y="27546979"/>
            <a:ext cx="1398133" cy="6132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spc="-42">
                <a:solidFill>
                  <a:srgbClr val="AE2622"/>
                </a:solidFill>
                <a:latin typeface="Arial"/>
              </a:rPr>
              <a:t>+18%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2164799" y="28151208"/>
            <a:ext cx="3524835" cy="73575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CRC deaths per 100,000 vs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best fixed, no surveillance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25871306" y="28151208"/>
            <a:ext cx="3524835" cy="1103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deaths averted per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colonoscopy vs 5-yearly</a:t>
            </a:r>
          </a:p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55555"/>
                </a:solidFill>
                <a:latin typeface="Arial"/>
              </a:rPr>
              <a:t>screening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09729" y="31556381"/>
            <a:ext cx="6048769" cy="814466"/>
          </a:xfrm>
          <a:prstGeom prst="rect">
            <a:avLst/>
          </a:prstGeom>
          <a:noFill/>
        </p:spPr>
        <p:txBody>
          <a:bodyPr wrap="none" lIns="110701" rIns="110701" tIns="30996" bIns="30996">
            <a:spAutoFit/>
          </a:bodyPr>
          <a:lstStyle/>
          <a:p>
            <a:pPr algn="l">
              <a:lnSpc>
                <a:spcPts val="2527"/>
              </a:lnSpc>
              <a:spcBef>
                <a:spcPts val="0"/>
              </a:spcBef>
              <a:spcAft>
                <a:spcPts val="0"/>
              </a:spcAft>
            </a:pPr>
            <a:r>
              <a:rPr sz="1743" b="1" spc="87">
                <a:solidFill>
                  <a:srgbClr val="555555"/>
                </a:solidFill>
                <a:latin typeface="Arial"/>
              </a:rPr>
              <a:t>COLONOSCOPY AGES ALONG EACH</a:t>
            </a:r>
          </a:p>
          <a:p>
            <a:pPr algn="l">
              <a:lnSpc>
                <a:spcPts val="2527"/>
              </a:lnSpc>
              <a:spcBef>
                <a:spcPts val="0"/>
              </a:spcBef>
              <a:spcAft>
                <a:spcPts val="0"/>
              </a:spcAft>
            </a:pPr>
            <a:r>
              <a:rPr sz="1743" b="1" spc="87">
                <a:solidFill>
                  <a:srgbClr val="555555"/>
                </a:solidFill>
                <a:latin typeface="Arial"/>
              </a:rPr>
              <a:t>OBSERVATION PATH (</a:t>
            </a:r>
            <a:r>
              <a:rPr sz="1743" b="1" spc="87">
                <a:solidFill>
                  <a:srgbClr val="555555"/>
                </a:solidFill>
                <a:latin typeface="Arial"/>
              </a:rPr>
              <a:t>λ</a:t>
            </a:r>
            <a:r>
              <a:rPr sz="1743" b="1" spc="87">
                <a:solidFill>
                  <a:srgbClr val="555555"/>
                </a:solidFill>
                <a:latin typeface="Arial"/>
              </a:rPr>
              <a:t> = 0.001561)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582321" y="31556381"/>
            <a:ext cx="4176469" cy="814466"/>
          </a:xfrm>
          <a:prstGeom prst="rect">
            <a:avLst/>
          </a:prstGeom>
          <a:noFill/>
        </p:spPr>
        <p:txBody>
          <a:bodyPr wrap="none" lIns="110701" rIns="110701" tIns="30996" bIns="30996">
            <a:spAutoFit/>
          </a:bodyPr>
          <a:lstStyle/>
          <a:p>
            <a:pPr algn="l">
              <a:lnSpc>
                <a:spcPts val="2527"/>
              </a:lnSpc>
              <a:spcBef>
                <a:spcPts val="0"/>
              </a:spcBef>
              <a:spcAft>
                <a:spcPts val="0"/>
              </a:spcAft>
            </a:pPr>
            <a:r>
              <a:rPr sz="1743" b="1" spc="87">
                <a:solidFill>
                  <a:srgbClr val="555555"/>
                </a:solidFill>
                <a:latin typeface="Arial"/>
              </a:rPr>
              <a:t>MEN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10637146" y="31556381"/>
            <a:ext cx="4176622" cy="814466"/>
          </a:xfrm>
          <a:prstGeom prst="rect">
            <a:avLst/>
          </a:prstGeom>
          <a:noFill/>
        </p:spPr>
        <p:txBody>
          <a:bodyPr wrap="none" lIns="110701" rIns="110701" tIns="30996" bIns="30996">
            <a:spAutoFit/>
          </a:bodyPr>
          <a:lstStyle/>
          <a:p>
            <a:pPr algn="l">
              <a:lnSpc>
                <a:spcPts val="2527"/>
              </a:lnSpc>
              <a:spcBef>
                <a:spcPts val="0"/>
              </a:spcBef>
              <a:spcAft>
                <a:spcPts val="0"/>
              </a:spcAft>
            </a:pPr>
            <a:r>
              <a:rPr sz="1743" b="1" spc="87">
                <a:solidFill>
                  <a:srgbClr val="555555"/>
                </a:solidFill>
                <a:latin typeface="Arial"/>
              </a:rPr>
              <a:t>WOMEN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709729" y="32264613"/>
            <a:ext cx="6048769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all normal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582321" y="32264613"/>
            <a:ext cx="4176469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49, 69, 78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637146" y="32264613"/>
            <a:ext cx="4176622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58, 73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09729" y="32784332"/>
            <a:ext cx="6048769" cy="597673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1–2 adenomas, then normal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582321" y="32784332"/>
            <a:ext cx="4176469" cy="597673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49, 58, 67, 75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0637146" y="32784332"/>
            <a:ext cx="4176622" cy="597673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58, 63, 73, 80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709729" y="33304048"/>
            <a:ext cx="6048769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≥3 adenomas, then normal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6582321" y="33304048"/>
            <a:ext cx="4176469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49, 50, 57, 64, 75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10637146" y="33304048"/>
            <a:ext cx="4176622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58, 59, 63, 69, 74, 79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15574443" y="33318331"/>
            <a:ext cx="6211679" cy="469004"/>
          </a:xfrm>
          <a:prstGeom prst="rect">
            <a:avLst/>
          </a:prstGeom>
          <a:noFill/>
        </p:spPr>
        <p:txBody>
          <a:bodyPr wrap="square" lIns="106700" rIns="106700" tIns="46947" bIns="46947">
            <a:sp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1680" b="1" spc="84">
                <a:solidFill>
                  <a:srgbClr val="555555"/>
                </a:solidFill>
                <a:latin typeface="Arial"/>
              </a:rPr>
              <a:t>CRC DEATHS / 100,000 (IN-MODEL)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21605200" y="33318331"/>
            <a:ext cx="2159649" cy="469004"/>
          </a:xfrm>
          <a:prstGeom prst="rect">
            <a:avLst/>
          </a:prstGeom>
          <a:noFill/>
        </p:spPr>
        <p:txBody>
          <a:bodyPr wrap="square" lIns="106700" rIns="106700" tIns="46947" bIns="46947">
            <a:sp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1680" b="1" spc="84">
                <a:solidFill>
                  <a:srgbClr val="555555"/>
                </a:solidFill>
                <a:latin typeface="Arial"/>
              </a:rPr>
              <a:t>NO SCORE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23701947" y="33318331"/>
            <a:ext cx="3428591" cy="469004"/>
          </a:xfrm>
          <a:prstGeom prst="rect">
            <a:avLst/>
          </a:prstGeom>
          <a:noFill/>
        </p:spPr>
        <p:txBody>
          <a:bodyPr wrap="square" lIns="106700" rIns="106700" tIns="46947" bIns="46947">
            <a:sp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1680" b="1" spc="84">
                <a:solidFill>
                  <a:srgbClr val="555555"/>
                </a:solidFill>
                <a:latin typeface="Arial"/>
              </a:rPr>
              <a:t>SCORE (AUC 0.60)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27030677" y="33318331"/>
            <a:ext cx="2601942" cy="469004"/>
          </a:xfrm>
          <a:prstGeom prst="rect">
            <a:avLst/>
          </a:prstGeom>
          <a:noFill/>
        </p:spPr>
        <p:txBody>
          <a:bodyPr wrap="square" lIns="106700" rIns="106700" tIns="46947" bIns="46947">
            <a:sp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1680" b="1" spc="84">
                <a:solidFill>
                  <a:srgbClr val="555555"/>
                </a:solidFill>
                <a:latin typeface="Arial"/>
              </a:rPr>
              <a:t>SCORE BUYS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15574443" y="33726161"/>
            <a:ext cx="6211679" cy="628647"/>
          </a:xfrm>
          <a:prstGeom prst="rect">
            <a:avLst/>
          </a:prstGeom>
          <a:noFill/>
        </p:spPr>
        <p:txBody>
          <a:bodyPr wrap="squar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Best fixed schedule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21605200" y="33726161"/>
            <a:ext cx="2159649" cy="628647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972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23701947" y="33726161"/>
            <a:ext cx="3428591" cy="628647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942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27030677" y="33726161"/>
            <a:ext cx="2601942" cy="628647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−30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709729" y="33823767"/>
            <a:ext cx="6048769" cy="597674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advanced adenoma, then normal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6582321" y="33823767"/>
            <a:ext cx="4176469" cy="597674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49, 52, 64, 75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10637146" y="33823767"/>
            <a:ext cx="4176622" cy="597674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58, 63, 73, 80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15574443" y="34272811"/>
            <a:ext cx="6211679" cy="628644"/>
          </a:xfrm>
          <a:prstGeom prst="rect">
            <a:avLst/>
          </a:prstGeom>
          <a:noFill/>
        </p:spPr>
        <p:txBody>
          <a:bodyPr wrap="squar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1C1C1C"/>
                </a:solidFill>
                <a:latin typeface="Arial"/>
              </a:rPr>
              <a:t>Adaptive policy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21605200" y="34272811"/>
            <a:ext cx="2159649" cy="628644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1C1C1C"/>
                </a:solidFill>
                <a:latin typeface="Arial"/>
              </a:rPr>
              <a:t>892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23701947" y="34272811"/>
            <a:ext cx="3428591" cy="628644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1C1C1C"/>
                </a:solidFill>
                <a:latin typeface="Arial"/>
              </a:rPr>
              <a:t>867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27030677" y="34272811"/>
            <a:ext cx="2601942" cy="628644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1C1C1C"/>
                </a:solidFill>
                <a:latin typeface="Arial"/>
              </a:rPr>
              <a:t>−24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709729" y="34343484"/>
            <a:ext cx="6048769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advanced adenoma twice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582321" y="34343484"/>
            <a:ext cx="4176469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49, 52, 53, 61, 67, 75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637146" y="34343484"/>
            <a:ext cx="4176622" cy="597676"/>
          </a:xfrm>
          <a:prstGeom prst="rect">
            <a:avLst/>
          </a:prstGeom>
          <a:noFill/>
        </p:spPr>
        <p:txBody>
          <a:bodyPr wrap="square" lIns="147601" rIns="147601" tIns="41328" bIns="41328">
            <a:spAutoFit/>
          </a:bodyPr>
          <a:lstStyle/>
          <a:p>
            <a:pPr algn="l">
              <a:lnSpc>
                <a:spcPts val="3370"/>
              </a:lnSpc>
              <a:spcBef>
                <a:spcPts val="0"/>
              </a:spcBef>
              <a:spcAft>
                <a:spcPts val="0"/>
              </a:spcAft>
            </a:pPr>
            <a:r>
              <a:rPr sz="2324" b="0">
                <a:solidFill>
                  <a:srgbClr val="1C1C1C"/>
                </a:solidFill>
                <a:latin typeface="Arial"/>
              </a:rPr>
              <a:t>58, 63, 67, 71, 76, 80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5574443" y="34819458"/>
            <a:ext cx="6211679" cy="628645"/>
          </a:xfrm>
          <a:prstGeom prst="rect">
            <a:avLst/>
          </a:prstGeom>
          <a:noFill/>
        </p:spPr>
        <p:txBody>
          <a:bodyPr wrap="squar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Adaptivity buys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21605200" y="34819458"/>
            <a:ext cx="2159649" cy="628645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−80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23701947" y="34819458"/>
            <a:ext cx="3428591" cy="628645"/>
          </a:xfrm>
          <a:prstGeom prst="rect">
            <a:avLst/>
          </a:prstGeom>
          <a:noFill/>
        </p:spPr>
        <p:txBody>
          <a:bodyPr wrap="none" lIns="142266" rIns="142266" tIns="62596" bIns="62596">
            <a:spAutoFit/>
          </a:bodyPr>
          <a:lstStyle/>
          <a:p>
            <a:pPr algn="l">
              <a:lnSpc>
                <a:spcPts val="3248"/>
              </a:lnSpc>
              <a:spcBef>
                <a:spcPts val="0"/>
              </a:spcBef>
              <a:spcAft>
                <a:spcPts val="0"/>
              </a:spcAft>
            </a:pPr>
            <a:r>
              <a:rPr sz="2240" b="0">
                <a:solidFill>
                  <a:srgbClr val="1C1C1C"/>
                </a:solidFill>
                <a:latin typeface="Arial"/>
              </a:rPr>
              <a:t>−74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